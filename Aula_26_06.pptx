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9144000" cx="16256000"/>
  <p:notesSz cx="6858000" cy="9144000"/>
  <p:embeddedFontLst>
    <p:embeddedFont>
      <p:font typeface="Inter SemiBold"/>
      <p:regular r:id="rId30"/>
      <p:bold r:id="rId31"/>
      <p:italic r:id="rId32"/>
      <p:boldItalic r:id="rId33"/>
    </p:embeddedFont>
    <p:embeddedFont>
      <p:font typeface="Inter"/>
      <p:regular r:id="rId34"/>
      <p:bold r:id="rId35"/>
      <p:italic r:id="rId36"/>
      <p:boldItalic r:id="rId37"/>
    </p:embeddedFont>
    <p:embeddedFont>
      <p:font typeface="Inter ExtraBold"/>
      <p:bold r:id="rId38"/>
      <p:boldItalic r:id="rId39"/>
    </p:embeddedFont>
    <p:embeddedFont>
      <p:font typeface="Courier Prime"/>
      <p:regular r:id="rId40"/>
      <p:bold r:id="rId41"/>
      <p:italic r:id="rId42"/>
      <p:boldItalic r:id="rId43"/>
    </p:embeddedFont>
    <p:embeddedFont>
      <p:font typeface="Inter Black"/>
      <p:bold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ourierPrime-regular.fntdata"/><Relationship Id="rId20" Type="http://schemas.openxmlformats.org/officeDocument/2006/relationships/slide" Target="slides/slide15.xml"/><Relationship Id="rId42" Type="http://schemas.openxmlformats.org/officeDocument/2006/relationships/font" Target="fonts/CourierPrime-italic.fntdata"/><Relationship Id="rId41" Type="http://schemas.openxmlformats.org/officeDocument/2006/relationships/font" Target="fonts/CourierPrime-bold.fntdata"/><Relationship Id="rId22" Type="http://schemas.openxmlformats.org/officeDocument/2006/relationships/slide" Target="slides/slide17.xml"/><Relationship Id="rId44" Type="http://schemas.openxmlformats.org/officeDocument/2006/relationships/font" Target="fonts/InterBlack-bold.fntdata"/><Relationship Id="rId21" Type="http://schemas.openxmlformats.org/officeDocument/2006/relationships/slide" Target="slides/slide16.xml"/><Relationship Id="rId43" Type="http://schemas.openxmlformats.org/officeDocument/2006/relationships/font" Target="fonts/CourierPrime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schemas.openxmlformats.org/officeDocument/2006/relationships/font" Target="fonts/InterBlack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SemiBold-bold.fntdata"/><Relationship Id="rId30" Type="http://schemas.openxmlformats.org/officeDocument/2006/relationships/font" Target="fonts/InterSemiBold-regular.fntdata"/><Relationship Id="rId11" Type="http://schemas.openxmlformats.org/officeDocument/2006/relationships/slide" Target="slides/slide6.xml"/><Relationship Id="rId33" Type="http://schemas.openxmlformats.org/officeDocument/2006/relationships/font" Target="fonts/InterSemiBold-boldItalic.fntdata"/><Relationship Id="rId10" Type="http://schemas.openxmlformats.org/officeDocument/2006/relationships/slide" Target="slides/slide5.xml"/><Relationship Id="rId32" Type="http://schemas.openxmlformats.org/officeDocument/2006/relationships/font" Target="fonts/InterSemiBold-italic.fntdata"/><Relationship Id="rId13" Type="http://schemas.openxmlformats.org/officeDocument/2006/relationships/slide" Target="slides/slide8.xml"/><Relationship Id="rId35" Type="http://schemas.openxmlformats.org/officeDocument/2006/relationships/font" Target="fonts/Inter-bold.fntdata"/><Relationship Id="rId12" Type="http://schemas.openxmlformats.org/officeDocument/2006/relationships/slide" Target="slides/slide7.xml"/><Relationship Id="rId34" Type="http://schemas.openxmlformats.org/officeDocument/2006/relationships/font" Target="fonts/Inter-regular.fntdata"/><Relationship Id="rId15" Type="http://schemas.openxmlformats.org/officeDocument/2006/relationships/slide" Target="slides/slide10.xml"/><Relationship Id="rId37" Type="http://schemas.openxmlformats.org/officeDocument/2006/relationships/font" Target="fonts/Inter-boldItalic.fntdata"/><Relationship Id="rId14" Type="http://schemas.openxmlformats.org/officeDocument/2006/relationships/slide" Target="slides/slide9.xml"/><Relationship Id="rId36" Type="http://schemas.openxmlformats.org/officeDocument/2006/relationships/font" Target="fonts/Inter-italic.fntdata"/><Relationship Id="rId17" Type="http://schemas.openxmlformats.org/officeDocument/2006/relationships/slide" Target="slides/slide12.xml"/><Relationship Id="rId39" Type="http://schemas.openxmlformats.org/officeDocument/2006/relationships/font" Target="fonts/InterExtraBold-boldItalic.fntdata"/><Relationship Id="rId16" Type="http://schemas.openxmlformats.org/officeDocument/2006/relationships/slide" Target="slides/slide11.xml"/><Relationship Id="rId38" Type="http://schemas.openxmlformats.org/officeDocument/2006/relationships/font" Target="fonts/InterExtraBold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270126e6c_0_16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270126e6c_0_16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270126e6c_0_15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270126e6c_0_1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270126e6c_229_17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270126e6c_229_17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270126e6c_0_1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f270126e6c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270126e6c_0_2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270126e6c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270126e6c_0_9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f270126e6c_0_9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270126e6c_0_18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f270126e6c_0_18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270126e6c_0_20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f270126e6c_0_20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270126e6c_229_20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f270126e6c_229_20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270126e6c_0_7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f270126e6c_0_7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f270126e6c_229_8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f270126e6c_229_8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f270126e6c_229_4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f270126e6c_229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f270126e6c_229_9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f270126e6c_229_9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f270126e6c_229_5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f270126e6c_229_5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f270126e6c_229_10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f270126e6c_229_10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f270126e6c_229_6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f270126e6c_229_6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f270126e6c_0_21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f270126e6c_0_2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f270126e6c_0_5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f270126e6c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f270126e6c_229_12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f270126e6c_229_1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f270126e6c_229_13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f270126e6c_229_1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f270126e6c_229_15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f270126e6c_229_1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f270126e6c_229_18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f270126e6c_229_18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f270126e6c_229_14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f270126e6c_229_1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554148" y="1323689"/>
            <a:ext cx="15147600" cy="3649200"/>
          </a:xfrm>
          <a:prstGeom prst="rect">
            <a:avLst/>
          </a:prstGeom>
        </p:spPr>
        <p:txBody>
          <a:bodyPr anchorCtr="0" anchor="b" bIns="162525" lIns="162525" spcFirstLastPara="1" rIns="162525" wrap="square" tIns="1625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1pPr>
            <a:lvl2pPr lvl="1" algn="ctr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2pPr>
            <a:lvl3pPr lvl="2" algn="ctr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3pPr>
            <a:lvl4pPr lvl="3" algn="ctr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4pPr>
            <a:lvl5pPr lvl="4" algn="ctr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5pPr>
            <a:lvl6pPr lvl="5" algn="ctr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6pPr>
            <a:lvl7pPr lvl="6" algn="ctr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7pPr>
            <a:lvl8pPr lvl="7" algn="ctr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8pPr>
            <a:lvl9pPr lvl="8" algn="ctr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554133" y="5038444"/>
            <a:ext cx="15147600" cy="1409100"/>
          </a:xfrm>
          <a:prstGeom prst="rect">
            <a:avLst/>
          </a:prstGeom>
        </p:spPr>
        <p:txBody>
          <a:bodyPr anchorCtr="0" anchor="t" bIns="162525" lIns="162525" spcFirstLastPara="1" rIns="162525" wrap="square" tIns="1625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5062147" y="8290163"/>
            <a:ext cx="975600" cy="699600"/>
          </a:xfrm>
          <a:prstGeom prst="rect">
            <a:avLst/>
          </a:prstGeom>
        </p:spPr>
        <p:txBody>
          <a:bodyPr anchorCtr="0" anchor="ctr" bIns="162525" lIns="162525" spcFirstLastPara="1" rIns="162525" wrap="square" tIns="1625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554133" y="3823733"/>
            <a:ext cx="15147600" cy="1496400"/>
          </a:xfrm>
          <a:prstGeom prst="rect">
            <a:avLst/>
          </a:prstGeom>
        </p:spPr>
        <p:txBody>
          <a:bodyPr anchorCtr="0" anchor="ctr" bIns="162525" lIns="162525" spcFirstLastPara="1" rIns="162525" wrap="square" tIns="1625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5062147" y="8290163"/>
            <a:ext cx="975600" cy="699600"/>
          </a:xfrm>
          <a:prstGeom prst="rect">
            <a:avLst/>
          </a:prstGeom>
        </p:spPr>
        <p:txBody>
          <a:bodyPr anchorCtr="0" anchor="ctr" bIns="162525" lIns="162525" spcFirstLastPara="1" rIns="162525" wrap="square" tIns="1625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554133" y="791156"/>
            <a:ext cx="15147600" cy="1018200"/>
          </a:xfrm>
          <a:prstGeom prst="rect">
            <a:avLst/>
          </a:prstGeom>
        </p:spPr>
        <p:txBody>
          <a:bodyPr anchorCtr="0" anchor="t" bIns="162525" lIns="162525" spcFirstLastPara="1" rIns="162525" wrap="square" tIns="1625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554133" y="2048844"/>
            <a:ext cx="15147600" cy="6073500"/>
          </a:xfrm>
          <a:prstGeom prst="rect">
            <a:avLst/>
          </a:prstGeom>
        </p:spPr>
        <p:txBody>
          <a:bodyPr anchorCtr="0" anchor="t" bIns="162525" lIns="162525" spcFirstLastPara="1" rIns="162525" wrap="square" tIns="162525">
            <a:normAutofit/>
          </a:bodyPr>
          <a:lstStyle>
            <a:lvl1pPr indent="-431800" lvl="0" marL="457200">
              <a:spcBef>
                <a:spcPts val="0"/>
              </a:spcBef>
              <a:spcAft>
                <a:spcPts val="0"/>
              </a:spcAft>
              <a:buSzPts val="3200"/>
              <a:buChar char="●"/>
              <a:defRPr/>
            </a:lvl1pPr>
            <a:lvl2pPr indent="-387350" lvl="1" marL="9144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indent="-387350" lvl="2" marL="13716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indent="-387350" lvl="3" marL="182880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indent="-387350" lvl="4" marL="22860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indent="-387350" lvl="5" marL="27432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indent="-387350" lvl="6" marL="320040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indent="-387350" lvl="7" marL="36576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indent="-387350" lvl="8" marL="41148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5062147" y="8290163"/>
            <a:ext cx="975600" cy="699600"/>
          </a:xfrm>
          <a:prstGeom prst="rect">
            <a:avLst/>
          </a:prstGeom>
        </p:spPr>
        <p:txBody>
          <a:bodyPr anchorCtr="0" anchor="ctr" bIns="162525" lIns="162525" spcFirstLastPara="1" rIns="162525" wrap="square" tIns="1625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554133" y="791156"/>
            <a:ext cx="15147600" cy="1018200"/>
          </a:xfrm>
          <a:prstGeom prst="rect">
            <a:avLst/>
          </a:prstGeom>
        </p:spPr>
        <p:txBody>
          <a:bodyPr anchorCtr="0" anchor="t" bIns="162525" lIns="162525" spcFirstLastPara="1" rIns="162525" wrap="square" tIns="1625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554133" y="2048844"/>
            <a:ext cx="7110900" cy="6073500"/>
          </a:xfrm>
          <a:prstGeom prst="rect">
            <a:avLst/>
          </a:prstGeom>
        </p:spPr>
        <p:txBody>
          <a:bodyPr anchorCtr="0" anchor="t" bIns="162525" lIns="162525" spcFirstLastPara="1" rIns="162525" wrap="square" tIns="162525">
            <a:normAutofit/>
          </a:bodyPr>
          <a:lstStyle>
            <a:lvl1pPr indent="-387350" lvl="0" marL="457200"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500"/>
            </a:lvl1pPr>
            <a:lvl2pPr indent="-361950" lvl="1" marL="91440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8590933" y="2048844"/>
            <a:ext cx="7110900" cy="6073500"/>
          </a:xfrm>
          <a:prstGeom prst="rect">
            <a:avLst/>
          </a:prstGeom>
        </p:spPr>
        <p:txBody>
          <a:bodyPr anchorCtr="0" anchor="t" bIns="162525" lIns="162525" spcFirstLastPara="1" rIns="162525" wrap="square" tIns="162525">
            <a:normAutofit/>
          </a:bodyPr>
          <a:lstStyle>
            <a:lvl1pPr indent="-387350" lvl="0" marL="457200"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500"/>
            </a:lvl1pPr>
            <a:lvl2pPr indent="-361950" lvl="1" marL="91440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5062147" y="8290163"/>
            <a:ext cx="975600" cy="699600"/>
          </a:xfrm>
          <a:prstGeom prst="rect">
            <a:avLst/>
          </a:prstGeom>
        </p:spPr>
        <p:txBody>
          <a:bodyPr anchorCtr="0" anchor="ctr" bIns="162525" lIns="162525" spcFirstLastPara="1" rIns="162525" wrap="square" tIns="1625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554133" y="791156"/>
            <a:ext cx="15147600" cy="1018200"/>
          </a:xfrm>
          <a:prstGeom prst="rect">
            <a:avLst/>
          </a:prstGeom>
        </p:spPr>
        <p:txBody>
          <a:bodyPr anchorCtr="0" anchor="t" bIns="162525" lIns="162525" spcFirstLastPara="1" rIns="162525" wrap="square" tIns="1625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5062147" y="8290163"/>
            <a:ext cx="975600" cy="699600"/>
          </a:xfrm>
          <a:prstGeom prst="rect">
            <a:avLst/>
          </a:prstGeom>
        </p:spPr>
        <p:txBody>
          <a:bodyPr anchorCtr="0" anchor="ctr" bIns="162525" lIns="162525" spcFirstLastPara="1" rIns="162525" wrap="square" tIns="1625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554133" y="987733"/>
            <a:ext cx="4992000" cy="1343400"/>
          </a:xfrm>
          <a:prstGeom prst="rect">
            <a:avLst/>
          </a:prstGeom>
        </p:spPr>
        <p:txBody>
          <a:bodyPr anchorCtr="0" anchor="b" bIns="162525" lIns="162525" spcFirstLastPara="1" rIns="162525" wrap="square" tIns="1625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554133" y="2470400"/>
            <a:ext cx="4992000" cy="5652300"/>
          </a:xfrm>
          <a:prstGeom prst="rect">
            <a:avLst/>
          </a:prstGeom>
        </p:spPr>
        <p:txBody>
          <a:bodyPr anchorCtr="0" anchor="t" bIns="162525" lIns="162525" spcFirstLastPara="1" rIns="162525" wrap="square" tIns="162525">
            <a:normAutofit/>
          </a:bodyPr>
          <a:lstStyle>
            <a:lvl1pPr indent="-361950" lvl="0" marL="45720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1pPr>
            <a:lvl2pPr indent="-361950" lvl="1" marL="91440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5062147" y="8290163"/>
            <a:ext cx="975600" cy="699600"/>
          </a:xfrm>
          <a:prstGeom prst="rect">
            <a:avLst/>
          </a:prstGeom>
        </p:spPr>
        <p:txBody>
          <a:bodyPr anchorCtr="0" anchor="ctr" bIns="162525" lIns="162525" spcFirstLastPara="1" rIns="162525" wrap="square" tIns="1625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871556" y="800267"/>
            <a:ext cx="11320500" cy="7272600"/>
          </a:xfrm>
          <a:prstGeom prst="rect">
            <a:avLst/>
          </a:prstGeom>
        </p:spPr>
        <p:txBody>
          <a:bodyPr anchorCtr="0" anchor="ctr" bIns="162525" lIns="162525" spcFirstLastPara="1" rIns="162525" wrap="square" tIns="1625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1pPr>
            <a:lvl2pPr lvl="1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5062147" y="8290163"/>
            <a:ext cx="975600" cy="699600"/>
          </a:xfrm>
          <a:prstGeom prst="rect">
            <a:avLst/>
          </a:prstGeom>
        </p:spPr>
        <p:txBody>
          <a:bodyPr anchorCtr="0" anchor="ctr" bIns="162525" lIns="162525" spcFirstLastPara="1" rIns="162525" wrap="square" tIns="1625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8128000" y="44"/>
            <a:ext cx="8127900" cy="9144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62525" lIns="162525" spcFirstLastPara="1" rIns="162525" wrap="square" tIns="162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472000" y="2192311"/>
            <a:ext cx="7191600" cy="2635200"/>
          </a:xfrm>
          <a:prstGeom prst="rect">
            <a:avLst/>
          </a:prstGeom>
        </p:spPr>
        <p:txBody>
          <a:bodyPr anchorCtr="0" anchor="b" bIns="162525" lIns="162525" spcFirstLastPara="1" rIns="162525" wrap="square" tIns="1625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1pPr>
            <a:lvl2pPr lvl="1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2pPr>
            <a:lvl3pPr lvl="2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3pPr>
            <a:lvl4pPr lvl="3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4pPr>
            <a:lvl5pPr lvl="4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5pPr>
            <a:lvl6pPr lvl="5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6pPr>
            <a:lvl7pPr lvl="6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7pPr>
            <a:lvl8pPr lvl="7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8pPr>
            <a:lvl9pPr lvl="8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472000" y="4983244"/>
            <a:ext cx="7191600" cy="2195700"/>
          </a:xfrm>
          <a:prstGeom prst="rect">
            <a:avLst/>
          </a:prstGeom>
        </p:spPr>
        <p:txBody>
          <a:bodyPr anchorCtr="0" anchor="t" bIns="162525" lIns="162525" spcFirstLastPara="1" rIns="162525" wrap="square" tIns="1625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8781333" y="1287467"/>
            <a:ext cx="6821400" cy="6569100"/>
          </a:xfrm>
          <a:prstGeom prst="rect">
            <a:avLst/>
          </a:prstGeom>
        </p:spPr>
        <p:txBody>
          <a:bodyPr anchorCtr="0" anchor="ctr" bIns="162525" lIns="162525" spcFirstLastPara="1" rIns="162525" wrap="square" tIns="162525">
            <a:normAutofit/>
          </a:bodyPr>
          <a:lstStyle>
            <a:lvl1pPr indent="-431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  <a:defRPr>
                <a:solidFill>
                  <a:schemeClr val="dk1"/>
                </a:solidFill>
              </a:defRPr>
            </a:lvl1pPr>
            <a:lvl2pPr indent="-3873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○"/>
              <a:defRPr>
                <a:solidFill>
                  <a:schemeClr val="dk1"/>
                </a:solidFill>
              </a:defRPr>
            </a:lvl2pPr>
            <a:lvl3pPr indent="-3873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■"/>
              <a:defRPr>
                <a:solidFill>
                  <a:schemeClr val="dk1"/>
                </a:solidFill>
              </a:defRPr>
            </a:lvl3pPr>
            <a:lvl4pPr indent="-3873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  <a:defRPr>
                <a:solidFill>
                  <a:schemeClr val="dk1"/>
                </a:solidFill>
              </a:defRPr>
            </a:lvl4pPr>
            <a:lvl5pPr indent="-3873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○"/>
              <a:defRPr>
                <a:solidFill>
                  <a:schemeClr val="dk1"/>
                </a:solidFill>
              </a:defRPr>
            </a:lvl5pPr>
            <a:lvl6pPr indent="-3873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■"/>
              <a:defRPr>
                <a:solidFill>
                  <a:schemeClr val="dk1"/>
                </a:solidFill>
              </a:defRPr>
            </a:lvl6pPr>
            <a:lvl7pPr indent="-3873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  <a:defRPr>
                <a:solidFill>
                  <a:schemeClr val="dk1"/>
                </a:solidFill>
              </a:defRPr>
            </a:lvl7pPr>
            <a:lvl8pPr indent="-3873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○"/>
              <a:defRPr>
                <a:solidFill>
                  <a:schemeClr val="dk1"/>
                </a:solidFill>
              </a:defRPr>
            </a:lvl8pPr>
            <a:lvl9pPr indent="-3873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5062147" y="8290163"/>
            <a:ext cx="975600" cy="699600"/>
          </a:xfrm>
          <a:prstGeom prst="rect">
            <a:avLst/>
          </a:prstGeom>
        </p:spPr>
        <p:txBody>
          <a:bodyPr anchorCtr="0" anchor="ctr" bIns="162525" lIns="162525" spcFirstLastPara="1" rIns="162525" wrap="square" tIns="1625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554133" y="7521022"/>
            <a:ext cx="10664400" cy="1075800"/>
          </a:xfrm>
          <a:prstGeom prst="rect">
            <a:avLst/>
          </a:prstGeom>
        </p:spPr>
        <p:txBody>
          <a:bodyPr anchorCtr="0" anchor="ctr" bIns="162525" lIns="162525" spcFirstLastPara="1" rIns="162525" wrap="square" tIns="1625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5062147" y="8290163"/>
            <a:ext cx="975600" cy="699600"/>
          </a:xfrm>
          <a:prstGeom prst="rect">
            <a:avLst/>
          </a:prstGeom>
        </p:spPr>
        <p:txBody>
          <a:bodyPr anchorCtr="0" anchor="ctr" bIns="162525" lIns="162525" spcFirstLastPara="1" rIns="162525" wrap="square" tIns="1625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554133" y="1966444"/>
            <a:ext cx="15147600" cy="3490800"/>
          </a:xfrm>
          <a:prstGeom prst="rect">
            <a:avLst/>
          </a:prstGeom>
        </p:spPr>
        <p:txBody>
          <a:bodyPr anchorCtr="0" anchor="b" bIns="162525" lIns="162525" spcFirstLastPara="1" rIns="162525" wrap="square" tIns="1625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554133" y="5603956"/>
            <a:ext cx="15147600" cy="2312400"/>
          </a:xfrm>
          <a:prstGeom prst="rect">
            <a:avLst/>
          </a:prstGeom>
        </p:spPr>
        <p:txBody>
          <a:bodyPr anchorCtr="0" anchor="t" bIns="162525" lIns="162525" spcFirstLastPara="1" rIns="162525" wrap="square" tIns="162525">
            <a:normAutofit/>
          </a:bodyPr>
          <a:lstStyle>
            <a:lvl1pPr indent="-431800" lvl="0" marL="457200" algn="ctr">
              <a:spcBef>
                <a:spcPts val="0"/>
              </a:spcBef>
              <a:spcAft>
                <a:spcPts val="0"/>
              </a:spcAft>
              <a:buSzPts val="3200"/>
              <a:buChar char="●"/>
              <a:defRPr/>
            </a:lvl1pPr>
            <a:lvl2pPr indent="-387350" lvl="1" marL="914400" algn="ctr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indent="-387350" lvl="2" marL="1371600" algn="ctr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indent="-387350" lvl="3" marL="1828800" algn="ctr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indent="-387350" lvl="4" marL="2286000" algn="ctr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indent="-387350" lvl="5" marL="2743200" algn="ctr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indent="-387350" lvl="6" marL="3200400" algn="ctr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indent="-387350" lvl="7" marL="3657600" algn="ctr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indent="-387350" lvl="8" marL="4114800" algn="ctr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5062147" y="8290163"/>
            <a:ext cx="975600" cy="699600"/>
          </a:xfrm>
          <a:prstGeom prst="rect">
            <a:avLst/>
          </a:prstGeom>
        </p:spPr>
        <p:txBody>
          <a:bodyPr anchorCtr="0" anchor="ctr" bIns="162525" lIns="162525" spcFirstLastPara="1" rIns="162525" wrap="square" tIns="1625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5062147" y="8290163"/>
            <a:ext cx="975600" cy="699600"/>
          </a:xfrm>
          <a:prstGeom prst="rect">
            <a:avLst/>
          </a:prstGeom>
        </p:spPr>
        <p:txBody>
          <a:bodyPr anchorCtr="0" anchor="ctr" bIns="162525" lIns="162525" spcFirstLastPara="1" rIns="162525" wrap="square" tIns="1625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270126e6c_11_0)">
  <p:cSld name="Generated (g3f270126e6c_11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54133" y="791156"/>
            <a:ext cx="15147600" cy="10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525" lIns="162525" spcFirstLastPara="1" rIns="162525" wrap="square" tIns="1625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54133" y="2048844"/>
            <a:ext cx="15147600" cy="60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525" lIns="162525" spcFirstLastPara="1" rIns="162525" wrap="square" tIns="162525">
            <a:normAutofit/>
          </a:bodyPr>
          <a:lstStyle>
            <a:lvl1pPr indent="-431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Char char="●"/>
              <a:defRPr sz="3200">
                <a:solidFill>
                  <a:schemeClr val="lt2"/>
                </a:solidFill>
              </a:defRPr>
            </a:lvl1pPr>
            <a:lvl2pPr indent="-3873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Char char="○"/>
              <a:defRPr sz="2500">
                <a:solidFill>
                  <a:schemeClr val="lt2"/>
                </a:solidFill>
              </a:defRPr>
            </a:lvl2pPr>
            <a:lvl3pPr indent="-3873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Char char="■"/>
              <a:defRPr sz="2500">
                <a:solidFill>
                  <a:schemeClr val="lt2"/>
                </a:solidFill>
              </a:defRPr>
            </a:lvl3pPr>
            <a:lvl4pPr indent="-3873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Char char="●"/>
              <a:defRPr sz="2500">
                <a:solidFill>
                  <a:schemeClr val="lt2"/>
                </a:solidFill>
              </a:defRPr>
            </a:lvl4pPr>
            <a:lvl5pPr indent="-3873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Char char="○"/>
              <a:defRPr sz="2500">
                <a:solidFill>
                  <a:schemeClr val="lt2"/>
                </a:solidFill>
              </a:defRPr>
            </a:lvl5pPr>
            <a:lvl6pPr indent="-3873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Char char="■"/>
              <a:defRPr sz="2500">
                <a:solidFill>
                  <a:schemeClr val="lt2"/>
                </a:solidFill>
              </a:defRPr>
            </a:lvl6pPr>
            <a:lvl7pPr indent="-3873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Char char="●"/>
              <a:defRPr sz="2500">
                <a:solidFill>
                  <a:schemeClr val="lt2"/>
                </a:solidFill>
              </a:defRPr>
            </a:lvl7pPr>
            <a:lvl8pPr indent="-3873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Char char="○"/>
              <a:defRPr sz="2500">
                <a:solidFill>
                  <a:schemeClr val="lt2"/>
                </a:solidFill>
              </a:defRPr>
            </a:lvl8pPr>
            <a:lvl9pPr indent="-3873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Char char="■"/>
              <a:defRPr sz="2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5062147" y="8290163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rmAutofit/>
          </a:bodyPr>
          <a:lstStyle>
            <a:lvl1pPr lvl="0" algn="r">
              <a:buNone/>
              <a:defRPr sz="1800">
                <a:solidFill>
                  <a:schemeClr val="lt2"/>
                </a:solidFill>
              </a:defRPr>
            </a:lvl1pPr>
            <a:lvl2pPr lvl="1" algn="r">
              <a:buNone/>
              <a:defRPr sz="1800">
                <a:solidFill>
                  <a:schemeClr val="lt2"/>
                </a:solidFill>
              </a:defRPr>
            </a:lvl2pPr>
            <a:lvl3pPr lvl="2" algn="r">
              <a:buNone/>
              <a:defRPr sz="1800">
                <a:solidFill>
                  <a:schemeClr val="lt2"/>
                </a:solidFill>
              </a:defRPr>
            </a:lvl3pPr>
            <a:lvl4pPr lvl="3" algn="r">
              <a:buNone/>
              <a:defRPr sz="1800">
                <a:solidFill>
                  <a:schemeClr val="lt2"/>
                </a:solidFill>
              </a:defRPr>
            </a:lvl4pPr>
            <a:lvl5pPr lvl="4" algn="r">
              <a:buNone/>
              <a:defRPr sz="1800">
                <a:solidFill>
                  <a:schemeClr val="lt2"/>
                </a:solidFill>
              </a:defRPr>
            </a:lvl5pPr>
            <a:lvl6pPr lvl="5" algn="r">
              <a:buNone/>
              <a:defRPr sz="1800">
                <a:solidFill>
                  <a:schemeClr val="lt2"/>
                </a:solidFill>
              </a:defRPr>
            </a:lvl6pPr>
            <a:lvl7pPr lvl="6" algn="r">
              <a:buNone/>
              <a:defRPr sz="1800">
                <a:solidFill>
                  <a:schemeClr val="lt2"/>
                </a:solidFill>
              </a:defRPr>
            </a:lvl7pPr>
            <a:lvl8pPr lvl="7" algn="r">
              <a:buNone/>
              <a:defRPr sz="1800">
                <a:solidFill>
                  <a:schemeClr val="lt2"/>
                </a:solidFill>
              </a:defRPr>
            </a:lvl8pPr>
            <a:lvl9pPr lvl="8" algn="r">
              <a:buNone/>
              <a:defRPr sz="18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Relationship Id="rId4" Type="http://schemas.openxmlformats.org/officeDocument/2006/relationships/image" Target="../media/image3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3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image" Target="../media/image2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9.png"/><Relationship Id="rId4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62591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 txBox="1"/>
          <p:nvPr/>
        </p:nvSpPr>
        <p:spPr>
          <a:xfrm>
            <a:off x="952500" y="2476500"/>
            <a:ext cx="143541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APRESENTAÇÃO COMPLETA</a:t>
            </a:r>
            <a:endParaRPr b="1" sz="1600">
              <a:solidFill>
                <a:srgbClr val="10B98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1800"/>
              </a:spcBef>
              <a:spcAft>
                <a:spcPts val="0"/>
              </a:spcAft>
              <a:buNone/>
            </a:pPr>
            <a:r>
              <a:rPr b="0" lang="en-US" sz="5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Dominando a Trindade do Desenvolvedor</a:t>
            </a:r>
            <a:endParaRPr b="0" sz="5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Git, GitHub, Pip &amp; o Poder da Linha de Comando</a:t>
            </a:r>
            <a:endParaRPr b="1" sz="2600">
              <a:solidFill>
                <a:srgbClr val="10B98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6259100" cy="914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" name="Google Shape;62;p15"/>
          <p:cNvGrpSpPr/>
          <p:nvPr/>
        </p:nvGrpSpPr>
        <p:grpSpPr>
          <a:xfrm>
            <a:off x="952500" y="762000"/>
            <a:ext cx="14354100" cy="2143125"/>
            <a:chOff x="952500" y="762000"/>
            <a:chExt cx="14354100" cy="2143125"/>
          </a:xfrm>
        </p:grpSpPr>
        <p:sp>
          <p:nvSpPr>
            <p:cNvPr id="63" name="Google Shape;63;p15"/>
            <p:cNvSpPr txBox="1"/>
            <p:nvPr/>
          </p:nvSpPr>
          <p:spPr>
            <a:xfrm>
              <a:off x="952500" y="762000"/>
              <a:ext cx="14354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1" lang="en-US" sz="16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APRESENTAÇÃO COMPLETA</a:t>
              </a:r>
              <a:endParaRPr b="1" sz="16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64" name="Google Shape;64;p15"/>
            <p:cNvSpPr txBox="1"/>
            <p:nvPr/>
          </p:nvSpPr>
          <p:spPr>
            <a:xfrm>
              <a:off x="952500" y="1190625"/>
              <a:ext cx="143541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5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Dominando a Trindade do Desenvolvedor</a:t>
              </a:r>
              <a:endParaRPr b="0" sz="5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rPr b="1" lang="en-US" sz="26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Git, GitHub, Pip &amp; o Poder da Linha de Comando</a:t>
              </a:r>
              <a:endParaRPr b="1" sz="260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" name="Google Shape;65;p15"/>
          <p:cNvGrpSpPr/>
          <p:nvPr/>
        </p:nvGrpSpPr>
        <p:grpSpPr>
          <a:xfrm>
            <a:off x="952500" y="3238500"/>
            <a:ext cx="8382000" cy="3619500"/>
            <a:chOff x="952500" y="3238500"/>
            <a:chExt cx="8382000" cy="3619500"/>
          </a:xfrm>
        </p:grpSpPr>
        <p:sp>
          <p:nvSpPr>
            <p:cNvPr id="66" name="Google Shape;66;p15"/>
            <p:cNvSpPr/>
            <p:nvPr/>
          </p:nvSpPr>
          <p:spPr>
            <a:xfrm>
              <a:off x="952500" y="3238500"/>
              <a:ext cx="8382000" cy="3619500"/>
            </a:xfrm>
            <a:prstGeom prst="roundRect">
              <a:avLst>
                <a:gd fmla="val 3157" name="adj"/>
              </a:avLst>
            </a:prstGeom>
            <a:solidFill>
              <a:srgbClr val="1E293B"/>
            </a:solidFill>
            <a:ln cap="flat" cmpd="sng" w="19050">
              <a:solidFill>
                <a:srgbClr val="4A556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5"/>
            <p:cNvSpPr/>
            <p:nvPr/>
          </p:nvSpPr>
          <p:spPr>
            <a:xfrm>
              <a:off x="952500" y="3238500"/>
              <a:ext cx="8382000" cy="428700"/>
            </a:xfrm>
            <a:prstGeom prst="roundRect">
              <a:avLst>
                <a:gd fmla="val 26666" name="adj"/>
              </a:avLst>
            </a:prstGeom>
            <a:solidFill>
              <a:srgbClr val="2D3748"/>
            </a:solidFill>
            <a:ln cap="flat" cmpd="sng" w="14300">
              <a:solidFill>
                <a:srgbClr val="4A556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5"/>
            <p:cNvSpPr/>
            <p:nvPr/>
          </p:nvSpPr>
          <p:spPr>
            <a:xfrm>
              <a:off x="1171575" y="3386138"/>
              <a:ext cx="133500" cy="1335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5"/>
            <p:cNvSpPr/>
            <p:nvPr/>
          </p:nvSpPr>
          <p:spPr>
            <a:xfrm>
              <a:off x="1409700" y="3386138"/>
              <a:ext cx="133500" cy="1335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1647825" y="3386138"/>
              <a:ext cx="133500" cy="1335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5"/>
            <p:cNvSpPr txBox="1"/>
            <p:nvPr/>
          </p:nvSpPr>
          <p:spPr>
            <a:xfrm>
              <a:off x="2095500" y="3343275"/>
              <a:ext cx="2857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bash - developer_trinity_setup.sh</a:t>
              </a:r>
              <a:endParaRPr sz="10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72" name="Google Shape;72;p15"/>
            <p:cNvSpPr txBox="1"/>
            <p:nvPr/>
          </p:nvSpPr>
          <p:spPr>
            <a:xfrm>
              <a:off x="1238250" y="3905250"/>
              <a:ext cx="78105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Inicializando ambiente de alta performance...</a:t>
              </a:r>
              <a:endParaRPr b="0" sz="11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$</a:t>
              </a:r>
              <a:r>
                <a:rPr b="0" lang="en-US" sz="1150">
                  <a:solidFill>
                    <a:srgbClr val="A7F3D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git init </a:t>
              </a:r>
              <a:r>
                <a:rPr b="0" lang="en-US" sz="1150">
                  <a:solidFill>
                    <a:srgbClr val="FB718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my-legendary-project</a:t>
              </a:r>
              <a:endParaRPr b="0" sz="1150">
                <a:solidFill>
                  <a:srgbClr val="A7F3D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Initialized empty Git repository in /users/dev/my-legendary-project/.git/</a:t>
              </a:r>
              <a:endParaRPr b="0" sz="105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$</a:t>
              </a:r>
              <a:r>
                <a:rPr b="0" lang="en-US" sz="1150">
                  <a:solidFill>
                    <a:srgbClr val="A7F3D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pip install </a:t>
              </a:r>
              <a:r>
                <a:rPr b="0" lang="en-US" sz="1150">
                  <a:solidFill>
                    <a:srgbClr val="FCD34D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requests pandas tensorflow</a:t>
              </a:r>
              <a:endParaRPr b="0" sz="1150">
                <a:solidFill>
                  <a:srgbClr val="A7F3D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Downloading requests-2.28.1-py3-none-any.whl (62 kB)</a:t>
              </a:r>
              <a:br>
                <a:rPr b="0" lang="en-US" sz="10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0" lang="en-US" sz="10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Successfully installed requests-2.28.1 pandas-1.5.2 tensorflow-2.11.0</a:t>
              </a:r>
              <a:endParaRPr b="0" sz="105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$</a:t>
              </a:r>
              <a:r>
                <a:rPr b="0" lang="en-US" sz="1150">
                  <a:solidFill>
                    <a:srgbClr val="A7F3D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git commit -m </a:t>
              </a:r>
              <a:r>
                <a:rPr b="0" lang="en-US" sz="115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"feat: trindade dev masterizada [git + github + pip]"</a:t>
              </a:r>
              <a:endParaRPr b="0" sz="1150">
                <a:solidFill>
                  <a:srgbClr val="A7F3D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900"/>
                </a:spcAft>
                <a:buNone/>
              </a:pPr>
              <a:r>
                <a:rPr b="1" lang="en-US" sz="115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&gt; [master (root-commit) b3f2701] feat: trindade dev masterizada</a:t>
              </a:r>
              <a:endParaRPr b="1" sz="1150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73" name="Google Shape;73;p15"/>
          <p:cNvGrpSpPr/>
          <p:nvPr/>
        </p:nvGrpSpPr>
        <p:grpSpPr>
          <a:xfrm>
            <a:off x="9782175" y="3238500"/>
            <a:ext cx="5524500" cy="3619500"/>
            <a:chOff x="9782175" y="3238500"/>
            <a:chExt cx="5524500" cy="3619500"/>
          </a:xfrm>
        </p:grpSpPr>
        <p:sp>
          <p:nvSpPr>
            <p:cNvPr id="74" name="Google Shape;74;p15"/>
            <p:cNvSpPr/>
            <p:nvPr/>
          </p:nvSpPr>
          <p:spPr>
            <a:xfrm>
              <a:off x="9782175" y="3238500"/>
              <a:ext cx="5524500" cy="3619500"/>
            </a:xfrm>
            <a:prstGeom prst="roundRect">
              <a:avLst>
                <a:gd fmla="val 4210" name="adj"/>
              </a:avLst>
            </a:prstGeom>
            <a:solidFill>
              <a:srgbClr val="2D3748">
                <a:alpha val="50000"/>
              </a:srgbClr>
            </a:solidFill>
            <a:ln cap="flat" cmpd="sng" w="14300">
              <a:solidFill>
                <a:srgbClr val="4A556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5"/>
            <p:cNvSpPr txBox="1"/>
            <p:nvPr/>
          </p:nvSpPr>
          <p:spPr>
            <a:xfrm>
              <a:off x="10163175" y="3619500"/>
              <a:ext cx="47625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 Caminho para a Autonomia</a:t>
              </a:r>
              <a:endParaRPr b="1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CBD5E0"/>
                  </a:solidFill>
                  <a:latin typeface="Arial"/>
                  <a:ea typeface="Arial"/>
                  <a:cs typeface="Arial"/>
                  <a:sym typeface="Arial"/>
                </a:rPr>
                <a:t>Esta apresentação aborda as três ferramentas indispensáveis que formam a espinha dorsal do desenvolvimento de software moderno:</a:t>
              </a:r>
              <a:endParaRPr b="0" sz="1400">
                <a:solidFill>
                  <a:srgbClr val="CBD5E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75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CBD5E0"/>
                </a:buClr>
                <a:buSzPts val="1400"/>
                <a:buFont typeface="Arial"/>
                <a:buChar char="●"/>
              </a:pPr>
              <a:r>
                <a:rPr b="1" lang="en-US" sz="14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Módulo 1 (Git):</a:t>
              </a:r>
              <a:r>
                <a:rPr b="0" lang="en-US" sz="1400">
                  <a:solidFill>
                    <a:srgbClr val="CBD5E0"/>
                  </a:solidFill>
                  <a:latin typeface="Arial"/>
                  <a:ea typeface="Arial"/>
                  <a:cs typeface="Arial"/>
                  <a:sym typeface="Arial"/>
                </a:rPr>
                <a:t> O controle de versão definitivo para rastreabilidade de código e segurança histórica.</a:t>
              </a:r>
              <a:endParaRPr b="0" sz="1400">
                <a:solidFill>
                  <a:srgbClr val="CBD5E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CBD5E0"/>
                </a:buClr>
                <a:buSzPts val="1400"/>
                <a:buFont typeface="Arial"/>
                <a:buChar char="●"/>
              </a:pPr>
              <a:r>
                <a:rPr b="1" lang="en-US" sz="14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Módulo 2 (GitHub):</a:t>
              </a:r>
              <a:r>
                <a:rPr b="0" lang="en-US" sz="1400">
                  <a:solidFill>
                    <a:srgbClr val="CBD5E0"/>
                  </a:solidFill>
                  <a:latin typeface="Arial"/>
                  <a:ea typeface="Arial"/>
                  <a:cs typeface="Arial"/>
                  <a:sym typeface="Arial"/>
                </a:rPr>
                <a:t> A plataforma de colaboração global e hospedagem na nuvem de repositórios.</a:t>
              </a:r>
              <a:endParaRPr b="0" sz="1400">
                <a:solidFill>
                  <a:srgbClr val="CBD5E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750"/>
                </a:spcAft>
                <a:buClr>
                  <a:srgbClr val="CBD5E0"/>
                </a:buClr>
                <a:buSzPts val="1400"/>
                <a:buFont typeface="Arial"/>
                <a:buChar char="●"/>
              </a:pPr>
              <a:r>
                <a:rPr b="1" lang="en-US" sz="14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Módulo 3 (PIP):</a:t>
              </a:r>
              <a:r>
                <a:rPr b="0" lang="en-US" sz="1400">
                  <a:solidFill>
                    <a:srgbClr val="CBD5E0"/>
                  </a:solidFill>
                  <a:latin typeface="Arial"/>
                  <a:ea typeface="Arial"/>
                  <a:cs typeface="Arial"/>
                  <a:sym typeface="Arial"/>
                </a:rPr>
                <a:t> O ecossistema de gerenciamento de pacotes para importar poder computacional ilimitado.</a:t>
              </a:r>
              <a:endParaRPr b="0" sz="1400">
                <a:solidFill>
                  <a:srgbClr val="CBD5E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76;p15"/>
          <p:cNvGrpSpPr/>
          <p:nvPr/>
        </p:nvGrpSpPr>
        <p:grpSpPr>
          <a:xfrm>
            <a:off x="952500" y="7239000"/>
            <a:ext cx="14354100" cy="857400"/>
            <a:chOff x="952500" y="7239000"/>
            <a:chExt cx="14354100" cy="857400"/>
          </a:xfrm>
        </p:grpSpPr>
        <p:sp>
          <p:nvSpPr>
            <p:cNvPr id="77" name="Google Shape;77;p15"/>
            <p:cNvSpPr/>
            <p:nvPr/>
          </p:nvSpPr>
          <p:spPr>
            <a:xfrm>
              <a:off x="952500" y="7239000"/>
              <a:ext cx="14354100" cy="857400"/>
            </a:xfrm>
            <a:prstGeom prst="roundRect">
              <a:avLst>
                <a:gd fmla="val 13333" name="adj"/>
              </a:avLst>
            </a:prstGeom>
            <a:solidFill>
              <a:srgbClr val="2D3748">
                <a:alpha val="30000"/>
              </a:srgbClr>
            </a:solidFill>
            <a:ln cap="flat" cmpd="sng" w="9525">
              <a:solidFill>
                <a:srgbClr val="4A556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5"/>
            <p:cNvSpPr txBox="1"/>
            <p:nvPr/>
          </p:nvSpPr>
          <p:spPr>
            <a:xfrm>
              <a:off x="1333500" y="7429500"/>
              <a:ext cx="135921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0" lang="en-US" sz="1300">
                  <a:solidFill>
                    <a:srgbClr val="CBD5E0"/>
                  </a:solidFill>
                  <a:latin typeface="Arial"/>
                  <a:ea typeface="Arial"/>
                  <a:cs typeface="Arial"/>
                  <a:sym typeface="Arial"/>
                </a:rPr>
                <a:t>💡 </a:t>
              </a:r>
              <a:r>
                <a:rPr b="1" lang="en-US" sz="13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Seja bem-vindo:</a:t>
              </a:r>
              <a:r>
                <a:rPr b="0" lang="en-US" sz="1300">
                  <a:solidFill>
                    <a:srgbClr val="CBD5E0"/>
                  </a:solidFill>
                  <a:latin typeface="Arial"/>
                  <a:ea typeface="Arial"/>
                  <a:cs typeface="Arial"/>
                  <a:sym typeface="Arial"/>
                </a:rPr>
                <a:t> Prepare-se para decolar sua produtividade, automatizar processos e dominar o fluxo de trabalho real utilizado pelas maiores empresas de tecnologia do mundo.</a:t>
              </a:r>
              <a:endParaRPr b="0" sz="1300">
                <a:solidFill>
                  <a:srgbClr val="CBD5E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/>
          <p:nvPr/>
        </p:nvSpPr>
        <p:spPr>
          <a:xfrm>
            <a:off x="0" y="0"/>
            <a:ext cx="16259100" cy="9144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" name="Google Shape;84;p16"/>
          <p:cNvGrpSpPr/>
          <p:nvPr/>
        </p:nvGrpSpPr>
        <p:grpSpPr>
          <a:xfrm>
            <a:off x="762000" y="523875"/>
            <a:ext cx="14735100" cy="1000275"/>
            <a:chOff x="762000" y="523875"/>
            <a:chExt cx="14735100" cy="1000275"/>
          </a:xfrm>
        </p:grpSpPr>
        <p:sp>
          <p:nvSpPr>
            <p:cNvPr id="85" name="Google Shape;85;p16"/>
            <p:cNvSpPr txBox="1"/>
            <p:nvPr/>
          </p:nvSpPr>
          <p:spPr>
            <a:xfrm>
              <a:off x="762000" y="523875"/>
              <a:ext cx="14735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MÓDULO 1: O MESTRE DO TEMPO (GIT)</a:t>
              </a:r>
              <a:endParaRPr b="1" sz="12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86" name="Google Shape;86;p16"/>
            <p:cNvSpPr txBox="1"/>
            <p:nvPr/>
          </p:nvSpPr>
          <p:spPr>
            <a:xfrm>
              <a:off x="762000" y="857250"/>
              <a:ext cx="147351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Matriz de Confusão: Git vs. GitHub</a:t>
              </a:r>
              <a:endParaRPr b="1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" name="Google Shape;87;p16"/>
          <p:cNvGrpSpPr/>
          <p:nvPr/>
        </p:nvGrpSpPr>
        <p:grpSpPr>
          <a:xfrm>
            <a:off x="762000" y="1809750"/>
            <a:ext cx="14735100" cy="4667400"/>
            <a:chOff x="762000" y="1809750"/>
            <a:chExt cx="14735100" cy="4667400"/>
          </a:xfrm>
        </p:grpSpPr>
        <p:sp>
          <p:nvSpPr>
            <p:cNvPr id="88" name="Google Shape;88;p16"/>
            <p:cNvSpPr/>
            <p:nvPr/>
          </p:nvSpPr>
          <p:spPr>
            <a:xfrm>
              <a:off x="762000" y="1809750"/>
              <a:ext cx="14735100" cy="4667400"/>
            </a:xfrm>
            <a:prstGeom prst="roundRect">
              <a:avLst>
                <a:gd fmla="val 3265" name="adj"/>
              </a:avLst>
            </a:prstGeom>
            <a:solidFill>
              <a:srgbClr val="1E293B">
                <a:alpha val="3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9" name="Google Shape;89;p16"/>
            <p:cNvCxnSpPr/>
            <p:nvPr/>
          </p:nvCxnSpPr>
          <p:spPr>
            <a:xfrm>
              <a:off x="762000" y="2762250"/>
              <a:ext cx="147351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0" name="Google Shape;90;p16"/>
            <p:cNvCxnSpPr/>
            <p:nvPr/>
          </p:nvCxnSpPr>
          <p:spPr>
            <a:xfrm>
              <a:off x="762000" y="4000500"/>
              <a:ext cx="147351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1" name="Google Shape;91;p16"/>
            <p:cNvCxnSpPr/>
            <p:nvPr/>
          </p:nvCxnSpPr>
          <p:spPr>
            <a:xfrm>
              <a:off x="762000" y="5238750"/>
              <a:ext cx="147351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2" name="Google Shape;92;p16"/>
            <p:cNvCxnSpPr/>
            <p:nvPr/>
          </p:nvCxnSpPr>
          <p:spPr>
            <a:xfrm>
              <a:off x="4000500" y="1809750"/>
              <a:ext cx="0" cy="46674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" name="Google Shape;93;p16"/>
            <p:cNvCxnSpPr/>
            <p:nvPr/>
          </p:nvCxnSpPr>
          <p:spPr>
            <a:xfrm>
              <a:off x="9715500" y="1809750"/>
              <a:ext cx="0" cy="46674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4" name="Google Shape;94;p16"/>
            <p:cNvSpPr txBox="1"/>
            <p:nvPr/>
          </p:nvSpPr>
          <p:spPr>
            <a:xfrm>
              <a:off x="4000500" y="1809750"/>
              <a:ext cx="5715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Git</a:t>
              </a:r>
              <a:endParaRPr b="1" sz="240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6"/>
            <p:cNvSpPr txBox="1"/>
            <p:nvPr/>
          </p:nvSpPr>
          <p:spPr>
            <a:xfrm>
              <a:off x="9715500" y="1809750"/>
              <a:ext cx="57816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38BDF8"/>
                  </a:solidFill>
                  <a:latin typeface="Arial"/>
                  <a:ea typeface="Arial"/>
                  <a:cs typeface="Arial"/>
                  <a:sym typeface="Arial"/>
                </a:rPr>
                <a:t>GitHub</a:t>
              </a:r>
              <a:endParaRPr b="1" sz="24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6"/>
            <p:cNvSpPr txBox="1"/>
            <p:nvPr/>
          </p:nvSpPr>
          <p:spPr>
            <a:xfrm>
              <a:off x="762000" y="2762250"/>
              <a:ext cx="3238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O que é?</a:t>
              </a:r>
              <a:endParaRPr b="1" sz="18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6"/>
            <p:cNvSpPr txBox="1"/>
            <p:nvPr/>
          </p:nvSpPr>
          <p:spPr>
            <a:xfrm>
              <a:off x="4286250" y="2762250"/>
              <a:ext cx="5143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Programa instalado</a:t>
              </a:r>
              <a:r>
                <a:rPr b="0" lang="en-US" sz="1500">
                  <a:solidFill>
                    <a:srgbClr val="E2E8F0"/>
                  </a:solidFill>
                  <a:latin typeface="Arial"/>
                  <a:ea typeface="Arial"/>
                  <a:cs typeface="Arial"/>
                  <a:sym typeface="Arial"/>
                </a:rPr>
                <a:t> no seu PC executado via </a:t>
              </a:r>
              <a:r>
                <a:rPr b="1" lang="en-US" sz="15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Linha de Comando</a:t>
              </a:r>
              <a:r>
                <a:rPr b="0" lang="en-US" sz="1500">
                  <a:solidFill>
                    <a:srgbClr val="E2E8F0"/>
                  </a:solidFill>
                  <a:latin typeface="Arial"/>
                  <a:ea typeface="Arial"/>
                  <a:cs typeface="Arial"/>
                  <a:sym typeface="Arial"/>
                </a:rPr>
                <a:t> (Terminal).</a:t>
              </a:r>
              <a:endParaRPr b="0" sz="1500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6"/>
            <p:cNvSpPr txBox="1"/>
            <p:nvPr/>
          </p:nvSpPr>
          <p:spPr>
            <a:xfrm>
              <a:off x="10001250" y="2762250"/>
              <a:ext cx="52101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38BDF8"/>
                  </a:solidFill>
                  <a:latin typeface="Arial"/>
                  <a:ea typeface="Arial"/>
                  <a:cs typeface="Arial"/>
                  <a:sym typeface="Arial"/>
                </a:rPr>
                <a:t>Site / Plataforma online</a:t>
              </a:r>
              <a:r>
                <a:rPr b="0" lang="en-US" sz="1500">
                  <a:solidFill>
                    <a:srgbClr val="E2E8F0"/>
                  </a:solidFill>
                  <a:latin typeface="Arial"/>
                  <a:ea typeface="Arial"/>
                  <a:cs typeface="Arial"/>
                  <a:sym typeface="Arial"/>
                </a:rPr>
                <a:t> na nuvem mantida e gerenciada pela </a:t>
              </a:r>
              <a:r>
                <a:rPr b="1" lang="en-US" sz="1500">
                  <a:solidFill>
                    <a:srgbClr val="38BDF8"/>
                  </a:solidFill>
                  <a:latin typeface="Arial"/>
                  <a:ea typeface="Arial"/>
                  <a:cs typeface="Arial"/>
                  <a:sym typeface="Arial"/>
                </a:rPr>
                <a:t>Microsoft</a:t>
              </a:r>
              <a:r>
                <a:rPr b="0" lang="en-US" sz="1500">
                  <a:solidFill>
                    <a:srgbClr val="E2E8F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sz="1500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6"/>
            <p:cNvSpPr txBox="1"/>
            <p:nvPr/>
          </p:nvSpPr>
          <p:spPr>
            <a:xfrm>
              <a:off x="762000" y="4000500"/>
              <a:ext cx="3238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Onde vive?</a:t>
              </a:r>
              <a:endParaRPr b="1" sz="18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6"/>
            <p:cNvSpPr txBox="1"/>
            <p:nvPr/>
          </p:nvSpPr>
          <p:spPr>
            <a:xfrm>
              <a:off x="4286250" y="4000500"/>
              <a:ext cx="5143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Localmente</a:t>
              </a:r>
              <a:r>
                <a:rPr b="0" lang="en-US" sz="1500">
                  <a:solidFill>
                    <a:srgbClr val="E2E8F0"/>
                  </a:solidFill>
                  <a:latin typeface="Arial"/>
                  <a:ea typeface="Arial"/>
                  <a:cs typeface="Arial"/>
                  <a:sym typeface="Arial"/>
                </a:rPr>
                <a:t> na sua máquina física, funcionando perfeitamente de forma </a:t>
              </a:r>
              <a:r>
                <a:rPr b="1" lang="en-US" sz="15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Offline</a:t>
              </a:r>
              <a:r>
                <a:rPr b="0" lang="en-US" sz="1500">
                  <a:solidFill>
                    <a:srgbClr val="E2E8F0"/>
                  </a:solidFill>
                  <a:latin typeface="Arial"/>
                  <a:ea typeface="Arial"/>
                  <a:cs typeface="Arial"/>
                  <a:sym typeface="Arial"/>
                </a:rPr>
                <a:t> direto no HD.</a:t>
              </a:r>
              <a:endParaRPr b="0" sz="1500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6"/>
            <p:cNvSpPr txBox="1"/>
            <p:nvPr/>
          </p:nvSpPr>
          <p:spPr>
            <a:xfrm>
              <a:off x="10001250" y="4000500"/>
              <a:ext cx="52101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E2E8F0"/>
                  </a:solidFill>
                  <a:latin typeface="Arial"/>
                  <a:ea typeface="Arial"/>
                  <a:cs typeface="Arial"/>
                  <a:sym typeface="Arial"/>
                </a:rPr>
                <a:t>Hospedado </a:t>
              </a:r>
              <a:r>
                <a:rPr b="1" lang="en-US" sz="1500">
                  <a:solidFill>
                    <a:srgbClr val="38BDF8"/>
                  </a:solidFill>
                  <a:latin typeface="Arial"/>
                  <a:ea typeface="Arial"/>
                  <a:cs typeface="Arial"/>
                  <a:sym typeface="Arial"/>
                </a:rPr>
                <a:t>Na Nuvem</a:t>
              </a:r>
              <a:r>
                <a:rPr b="0" lang="en-US" sz="1500">
                  <a:solidFill>
                    <a:srgbClr val="E2E8F0"/>
                  </a:solidFill>
                  <a:latin typeface="Arial"/>
                  <a:ea typeface="Arial"/>
                  <a:cs typeface="Arial"/>
                  <a:sym typeface="Arial"/>
                </a:rPr>
                <a:t>, necessitando de conexão </a:t>
              </a:r>
              <a:r>
                <a:rPr b="1" lang="en-US" sz="1500">
                  <a:solidFill>
                    <a:srgbClr val="38BDF8"/>
                  </a:solidFill>
                  <a:latin typeface="Arial"/>
                  <a:ea typeface="Arial"/>
                  <a:cs typeface="Arial"/>
                  <a:sym typeface="Arial"/>
                </a:rPr>
                <a:t>Online</a:t>
              </a:r>
              <a:r>
                <a:rPr b="0" lang="en-US" sz="1500">
                  <a:solidFill>
                    <a:srgbClr val="E2E8F0"/>
                  </a:solidFill>
                  <a:latin typeface="Arial"/>
                  <a:ea typeface="Arial"/>
                  <a:cs typeface="Arial"/>
                  <a:sym typeface="Arial"/>
                </a:rPr>
                <a:t> para sincronizar com os servidores remotos.</a:t>
              </a:r>
              <a:endParaRPr b="0" sz="1500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6"/>
            <p:cNvSpPr txBox="1"/>
            <p:nvPr/>
          </p:nvSpPr>
          <p:spPr>
            <a:xfrm>
              <a:off x="762000" y="5238750"/>
              <a:ext cx="3238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O que faz?</a:t>
              </a:r>
              <a:endParaRPr b="1" sz="18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6"/>
            <p:cNvSpPr txBox="1"/>
            <p:nvPr/>
          </p:nvSpPr>
          <p:spPr>
            <a:xfrm>
              <a:off x="4286250" y="5238750"/>
              <a:ext cx="5143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Rastreia o histórico</a:t>
              </a:r>
              <a:r>
                <a:rPr b="0" lang="en-US" sz="1500">
                  <a:solidFill>
                    <a:srgbClr val="E2E8F0"/>
                  </a:solidFill>
                  <a:latin typeface="Arial"/>
                  <a:ea typeface="Arial"/>
                  <a:cs typeface="Arial"/>
                  <a:sym typeface="Arial"/>
                </a:rPr>
                <a:t> completo de alterações e ramificações de arquivos ao longo do tempo.</a:t>
              </a:r>
              <a:endParaRPr b="0" sz="1500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6"/>
            <p:cNvSpPr txBox="1"/>
            <p:nvPr/>
          </p:nvSpPr>
          <p:spPr>
            <a:xfrm>
              <a:off x="10001250" y="5238750"/>
              <a:ext cx="52101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38BDF8"/>
                  </a:solidFill>
                  <a:latin typeface="Arial"/>
                  <a:ea typeface="Arial"/>
                  <a:cs typeface="Arial"/>
                  <a:sym typeface="Arial"/>
                </a:rPr>
                <a:t>Hospeda os projetos</a:t>
              </a:r>
              <a:r>
                <a:rPr b="0" lang="en-US" sz="1500">
                  <a:solidFill>
                    <a:srgbClr val="E2E8F0"/>
                  </a:solidFill>
                  <a:latin typeface="Arial"/>
                  <a:ea typeface="Arial"/>
                  <a:cs typeface="Arial"/>
                  <a:sym typeface="Arial"/>
                </a:rPr>
                <a:t> online para permitir </a:t>
              </a:r>
              <a:r>
                <a:rPr b="1" lang="en-US" sz="1500">
                  <a:solidFill>
                    <a:srgbClr val="38BDF8"/>
                  </a:solidFill>
                  <a:latin typeface="Arial"/>
                  <a:ea typeface="Arial"/>
                  <a:cs typeface="Arial"/>
                  <a:sym typeface="Arial"/>
                </a:rPr>
                <a:t>colaboração global</a:t>
              </a:r>
              <a:r>
                <a:rPr b="0" lang="en-US" sz="1500">
                  <a:solidFill>
                    <a:srgbClr val="E2E8F0"/>
                  </a:solidFill>
                  <a:latin typeface="Arial"/>
                  <a:ea typeface="Arial"/>
                  <a:cs typeface="Arial"/>
                  <a:sym typeface="Arial"/>
                </a:rPr>
                <a:t> em equipe e backup remoto seguro.</a:t>
              </a:r>
              <a:endParaRPr b="0" sz="1500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" name="Google Shape;105;p16"/>
          <p:cNvGrpSpPr/>
          <p:nvPr/>
        </p:nvGrpSpPr>
        <p:grpSpPr>
          <a:xfrm>
            <a:off x="762000" y="6858000"/>
            <a:ext cx="14735100" cy="1428900"/>
            <a:chOff x="762000" y="6858000"/>
            <a:chExt cx="14735100" cy="1428900"/>
          </a:xfrm>
        </p:grpSpPr>
        <p:sp>
          <p:nvSpPr>
            <p:cNvPr id="106" name="Google Shape;106;p16"/>
            <p:cNvSpPr/>
            <p:nvPr/>
          </p:nvSpPr>
          <p:spPr>
            <a:xfrm>
              <a:off x="762000" y="6858000"/>
              <a:ext cx="14735100" cy="1428900"/>
            </a:xfrm>
            <a:prstGeom prst="roundRect">
              <a:avLst>
                <a:gd fmla="val 10666" name="adj"/>
              </a:avLst>
            </a:prstGeom>
            <a:solidFill>
              <a:srgbClr val="1E293B">
                <a:alpha val="60000"/>
              </a:srgbClr>
            </a:solidFill>
            <a:ln cap="flat" cmpd="sng" w="14300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6"/>
            <p:cNvSpPr txBox="1"/>
            <p:nvPr/>
          </p:nvSpPr>
          <p:spPr>
            <a:xfrm>
              <a:off x="1143000" y="7048500"/>
              <a:ext cx="139731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🚗 </a:t>
              </a:r>
              <a:r>
                <a:rPr b="1" lang="en-US" sz="15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Analogia Prática para fixar de vez:</a:t>
              </a:r>
              <a:endParaRPr b="0" sz="15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O </a:t>
              </a:r>
              <a:r>
                <a:rPr b="1" lang="en-US" sz="15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Git é o motor</a:t>
              </a:r>
              <a:r>
                <a:rPr b="0" lang="en-US" sz="15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do seu carro. O </a:t>
              </a:r>
              <a:r>
                <a:rPr b="1" lang="en-US" sz="1500">
                  <a:solidFill>
                    <a:srgbClr val="38BDF8"/>
                  </a:solidFill>
                  <a:latin typeface="Arial"/>
                  <a:ea typeface="Arial"/>
                  <a:cs typeface="Arial"/>
                  <a:sym typeface="Arial"/>
                </a:rPr>
                <a:t>GitHub é a rodovia</a:t>
              </a:r>
              <a:r>
                <a:rPr b="0" lang="en-US" sz="15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onde todos os carros andam juntos.</a:t>
              </a:r>
              <a:br>
                <a:rPr b="0" lang="en-US" sz="15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lang="en-US" sz="15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Você precisa do motor (</a:t>
              </a:r>
              <a:r>
                <a:rPr b="1" lang="en-US" sz="15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Git</a:t>
              </a:r>
              <a:r>
                <a:rPr b="0" lang="en-US" sz="15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) instalado no seu veículo para conseguir acessar e viajar na rodovia (</a:t>
              </a:r>
              <a:r>
                <a:rPr b="1" lang="en-US" sz="1500">
                  <a:solidFill>
                    <a:srgbClr val="38BDF8"/>
                  </a:solidFill>
                  <a:latin typeface="Arial"/>
                  <a:ea typeface="Arial"/>
                  <a:cs typeface="Arial"/>
                  <a:sym typeface="Arial"/>
                </a:rPr>
                <a:t>GitHub</a:t>
              </a:r>
              <a:r>
                <a:rPr b="0" lang="en-US" sz="15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).</a:t>
              </a:r>
              <a:endParaRPr b="0" sz="15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12;p17"/>
          <p:cNvGrpSpPr/>
          <p:nvPr/>
        </p:nvGrpSpPr>
        <p:grpSpPr>
          <a:xfrm>
            <a:off x="762000" y="523875"/>
            <a:ext cx="14735100" cy="1428750"/>
            <a:chOff x="762000" y="523875"/>
            <a:chExt cx="14735100" cy="1428750"/>
          </a:xfrm>
        </p:grpSpPr>
        <p:sp>
          <p:nvSpPr>
            <p:cNvPr id="113" name="Google Shape;113;p17"/>
            <p:cNvSpPr txBox="1"/>
            <p:nvPr/>
          </p:nvSpPr>
          <p:spPr>
            <a:xfrm>
              <a:off x="762000" y="523875"/>
              <a:ext cx="571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MÓDULO 1: O MESTRE DO TEMPO (GIT)</a:t>
              </a:r>
              <a:endParaRPr/>
            </a:p>
          </p:txBody>
        </p:sp>
        <p:sp>
          <p:nvSpPr>
            <p:cNvPr id="114" name="Google Shape;114;p17"/>
            <p:cNvSpPr txBox="1"/>
            <p:nvPr/>
          </p:nvSpPr>
          <p:spPr>
            <a:xfrm>
              <a:off x="762000" y="857250"/>
              <a:ext cx="147351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Origem do Git: Rebeldia e Eficiência</a:t>
              </a:r>
              <a:endParaRPr b="1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7"/>
            <p:cNvSpPr txBox="1"/>
            <p:nvPr/>
          </p:nvSpPr>
          <p:spPr>
            <a:xfrm>
              <a:off x="762000" y="1571625"/>
              <a:ext cx="14735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A0AEC0"/>
                  </a:solidFill>
                  <a:latin typeface="Arial"/>
                  <a:ea typeface="Arial"/>
                  <a:cs typeface="Arial"/>
                  <a:sym typeface="Arial"/>
                </a:rPr>
                <a:t>Como a perda de uma licença gratuita deu origem ao controle de versão mais popular do mundo.</a:t>
              </a:r>
              <a:endParaRPr b="0" sz="160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" name="Google Shape;116;p17"/>
          <p:cNvGrpSpPr/>
          <p:nvPr/>
        </p:nvGrpSpPr>
        <p:grpSpPr>
          <a:xfrm>
            <a:off x="762000" y="2286000"/>
            <a:ext cx="4572000" cy="4286400"/>
            <a:chOff x="762000" y="2286000"/>
            <a:chExt cx="4572000" cy="4286400"/>
          </a:xfrm>
        </p:grpSpPr>
        <p:sp>
          <p:nvSpPr>
            <p:cNvPr id="117" name="Google Shape;117;p17"/>
            <p:cNvSpPr/>
            <p:nvPr/>
          </p:nvSpPr>
          <p:spPr>
            <a:xfrm>
              <a:off x="762000" y="2286000"/>
              <a:ext cx="4572000" cy="4286400"/>
            </a:xfrm>
            <a:prstGeom prst="roundRect">
              <a:avLst>
                <a:gd fmla="val 3555" name="adj"/>
              </a:avLst>
            </a:prstGeom>
            <a:solidFill>
              <a:srgbClr val="2D3748">
                <a:alpha val="40000"/>
              </a:srgbClr>
            </a:solidFill>
            <a:ln cap="flat" cmpd="sng" w="14300">
              <a:solidFill>
                <a:srgbClr val="4A556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7"/>
            <p:cNvSpPr txBox="1"/>
            <p:nvPr/>
          </p:nvSpPr>
          <p:spPr>
            <a:xfrm>
              <a:off x="1143000" y="2667000"/>
              <a:ext cx="3810000" cy="35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2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2005</a:t>
              </a:r>
              <a:endParaRPr b="0" sz="420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E2E8F0"/>
                  </a:solidFill>
                  <a:latin typeface="Arial"/>
                  <a:ea typeface="Arial"/>
                  <a:cs typeface="Arial"/>
                  <a:sym typeface="Arial"/>
                </a:rPr>
                <a:t>O Nascimento de uma Lenda</a:t>
              </a:r>
              <a:endParaRPr b="1" sz="1600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CBD5E0"/>
                  </a:solidFill>
                  <a:latin typeface="Arial"/>
                  <a:ea typeface="Arial"/>
                  <a:cs typeface="Arial"/>
                  <a:sym typeface="Arial"/>
                </a:rPr>
                <a:t>O Git foi criado por </a:t>
              </a:r>
              <a:r>
                <a:rPr b="1" lang="en-US" sz="13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Linus Torvalds</a:t>
              </a:r>
              <a:r>
                <a:rPr b="0" lang="en-US" sz="1300">
                  <a:solidFill>
                    <a:srgbClr val="CBD5E0"/>
                  </a:solidFill>
                  <a:latin typeface="Arial"/>
                  <a:ea typeface="Arial"/>
                  <a:cs typeface="Arial"/>
                  <a:sym typeface="Arial"/>
                </a:rPr>
                <a:t> após a empresa BitKeeper retirar a licença gratuita para a comunidade Linux.</a:t>
              </a:r>
              <a:endParaRPr b="0" sz="1300">
                <a:solidFill>
                  <a:srgbClr val="CBD5E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CBD5E0"/>
                  </a:solidFill>
                  <a:latin typeface="Arial"/>
                  <a:ea typeface="Arial"/>
                  <a:cs typeface="Arial"/>
                  <a:sym typeface="Arial"/>
                </a:rPr>
                <a:t>Insatisfeito com as opções de mercado, Linus decidiu revolucionar e construir sua própria ferramenta do zero.</a:t>
              </a:r>
              <a:endParaRPr b="0" sz="1300">
                <a:solidFill>
                  <a:srgbClr val="CBD5E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" name="Google Shape;119;p17"/>
          <p:cNvGrpSpPr/>
          <p:nvPr/>
        </p:nvGrpSpPr>
        <p:grpSpPr>
          <a:xfrm>
            <a:off x="5619750" y="2286000"/>
            <a:ext cx="4572000" cy="4286400"/>
            <a:chOff x="5619750" y="2286000"/>
            <a:chExt cx="4572000" cy="4286400"/>
          </a:xfrm>
        </p:grpSpPr>
        <p:sp>
          <p:nvSpPr>
            <p:cNvPr id="120" name="Google Shape;120;p17"/>
            <p:cNvSpPr/>
            <p:nvPr/>
          </p:nvSpPr>
          <p:spPr>
            <a:xfrm>
              <a:off x="5619750" y="2286000"/>
              <a:ext cx="4572000" cy="4286400"/>
            </a:xfrm>
            <a:prstGeom prst="roundRect">
              <a:avLst>
                <a:gd fmla="val 3555" name="adj"/>
              </a:avLst>
            </a:prstGeom>
            <a:solidFill>
              <a:srgbClr val="2D3748">
                <a:alpha val="40000"/>
              </a:srgbClr>
            </a:solidFill>
            <a:ln cap="flat" cmpd="sng" w="14300">
              <a:solidFill>
                <a:srgbClr val="4A556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7"/>
            <p:cNvSpPr txBox="1"/>
            <p:nvPr/>
          </p:nvSpPr>
          <p:spPr>
            <a:xfrm>
              <a:off x="6000750" y="2667000"/>
              <a:ext cx="3810000" cy="35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2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DESIGN</a:t>
              </a:r>
              <a:endParaRPr b="0" sz="420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E2E8F0"/>
                  </a:solidFill>
                  <a:latin typeface="Arial"/>
                  <a:ea typeface="Arial"/>
                  <a:cs typeface="Arial"/>
                  <a:sym typeface="Arial"/>
                </a:rPr>
                <a:t>Os Três Pilares Técnicos</a:t>
              </a:r>
              <a:endParaRPr b="1" sz="1600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CBD5E0"/>
                  </a:solidFill>
                  <a:latin typeface="Arial"/>
                  <a:ea typeface="Arial"/>
                  <a:cs typeface="Arial"/>
                  <a:sym typeface="Arial"/>
                </a:rPr>
                <a:t>A arquitetura foi projetada com foco absoluto em </a:t>
              </a:r>
              <a:r>
                <a:rPr b="1" lang="en-US" sz="13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velocidade</a:t>
              </a:r>
              <a:r>
                <a:rPr b="0" lang="en-US" sz="1300">
                  <a:solidFill>
                    <a:srgbClr val="CBD5E0"/>
                  </a:solidFill>
                  <a:latin typeface="Arial"/>
                  <a:ea typeface="Arial"/>
                  <a:cs typeface="Arial"/>
                  <a:sym typeface="Arial"/>
                </a:rPr>
                <a:t> máxima e um design interno extremamente simples.</a:t>
              </a:r>
              <a:endParaRPr b="0" sz="1300">
                <a:solidFill>
                  <a:srgbClr val="CBD5E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CBD5E0"/>
                  </a:solidFill>
                  <a:latin typeface="Arial"/>
                  <a:ea typeface="Arial"/>
                  <a:cs typeface="Arial"/>
                  <a:sym typeface="Arial"/>
                </a:rPr>
                <a:t>O grande diferencial foi o suporte nativo para desenvolvimento </a:t>
              </a:r>
              <a:r>
                <a:rPr b="1" lang="en-US" sz="13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não-linear</a:t>
              </a:r>
              <a:r>
                <a:rPr b="0" lang="en-US" sz="1300">
                  <a:solidFill>
                    <a:srgbClr val="CBD5E0"/>
                  </a:solidFill>
                  <a:latin typeface="Arial"/>
                  <a:ea typeface="Arial"/>
                  <a:cs typeface="Arial"/>
                  <a:sym typeface="Arial"/>
                </a:rPr>
                <a:t>, permitindo milhares de ramificações (branches) paralelas com segurança absoluta.</a:t>
              </a:r>
              <a:endParaRPr b="0" sz="1300">
                <a:solidFill>
                  <a:srgbClr val="CBD5E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" name="Google Shape;122;p17"/>
          <p:cNvSpPr/>
          <p:nvPr/>
        </p:nvSpPr>
        <p:spPr>
          <a:xfrm>
            <a:off x="10477500" y="2286000"/>
            <a:ext cx="5019600" cy="4286400"/>
          </a:xfrm>
          <a:prstGeom prst="roundRect">
            <a:avLst>
              <a:gd fmla="val 3555" name="adj"/>
            </a:avLst>
          </a:prstGeom>
          <a:solidFill>
            <a:srgbClr val="2D3748">
              <a:alpha val="40000"/>
            </a:srgbClr>
          </a:solidFill>
          <a:ln cap="flat" cmpd="sng" w="14300">
            <a:solidFill>
              <a:srgbClr val="4A5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7"/>
          <p:cNvSpPr txBox="1"/>
          <p:nvPr/>
        </p:nvSpPr>
        <p:spPr>
          <a:xfrm>
            <a:off x="12701325" y="2643288"/>
            <a:ext cx="2305500" cy="15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Linus Torvalds</a:t>
            </a:r>
            <a:endParaRPr b="1" sz="1600">
              <a:solidFill>
                <a:srgbClr val="10B98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CBD5E0"/>
                </a:solidFill>
                <a:latin typeface="Arial"/>
                <a:ea typeface="Arial"/>
                <a:cs typeface="Arial"/>
                <a:sym typeface="Arial"/>
              </a:rPr>
              <a:t>Criador do Linux &amp; Git, focado em resolver problemas complexos com simplicidade.</a:t>
            </a:r>
            <a:endParaRPr b="0" sz="1100">
              <a:solidFill>
                <a:srgbClr val="CBD5E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10743900" y="4715250"/>
            <a:ext cx="4486800" cy="15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rgbClr val="F6CACA"/>
                </a:solidFill>
                <a:latin typeface="Georgia"/>
                <a:ea typeface="Georgia"/>
                <a:cs typeface="Georgia"/>
                <a:sym typeface="Georgia"/>
              </a:rPr>
              <a:t>"Eu sou um egoísta, e eu nomeio todos os meus projetos depois de mim. Primeiro 'Linux', agora 'Git'."</a:t>
            </a:r>
            <a:endParaRPr i="1" sz="1600">
              <a:solidFill>
                <a:srgbClr val="F6CAC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— Linus Torvalds (Git = "idiota" em gíria britânica)</a:t>
            </a:r>
            <a:endParaRPr b="1" sz="1200">
              <a:solidFill>
                <a:srgbClr val="A0AE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762000" y="6953250"/>
            <a:ext cx="14735100" cy="1047900"/>
          </a:xfrm>
          <a:prstGeom prst="roundRect">
            <a:avLst>
              <a:gd fmla="val 14545" name="adj"/>
            </a:avLst>
          </a:prstGeom>
          <a:solidFill>
            <a:srgbClr val="2D3748">
              <a:alpha val="30000"/>
            </a:srgbClr>
          </a:solidFill>
          <a:ln cap="flat" cmpd="sng" w="9525">
            <a:solidFill>
              <a:srgbClr val="4A5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1143000" y="7143750"/>
            <a:ext cx="139731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CBD5E0"/>
                </a:solidFill>
                <a:latin typeface="Arial"/>
                <a:ea typeface="Arial"/>
                <a:cs typeface="Arial"/>
                <a:sym typeface="Arial"/>
              </a:rPr>
              <a:t>💡 </a:t>
            </a:r>
            <a:r>
              <a:rPr b="1" lang="en-US" sz="140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Resumo do Legado:</a:t>
            </a:r>
            <a:r>
              <a:rPr b="0" lang="en-US" sz="1400">
                <a:solidFill>
                  <a:srgbClr val="CBD5E0"/>
                </a:solidFill>
                <a:latin typeface="Arial"/>
                <a:ea typeface="Arial"/>
                <a:cs typeface="Arial"/>
                <a:sym typeface="Arial"/>
              </a:rPr>
              <a:t> O que começou como uma reação de rebeldia contra limitações comerciais de software se tornou o ecossistema padrão da engenharia de software mundial, conectando bilhões de desenvolvedores através da trindade do desenvolvimento.</a:t>
            </a:r>
            <a:endParaRPr b="0" sz="1400">
              <a:solidFill>
                <a:srgbClr val="CBD5E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17" title="images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43900" y="2424300"/>
            <a:ext cx="1828800" cy="1819275"/>
          </a:xfrm>
          <a:prstGeom prst="rect">
            <a:avLst/>
          </a:prstGeom>
          <a:solidFill>
            <a:srgbClr val="2D3748">
              <a:alpha val="40000"/>
            </a:srgbClr>
          </a:solidFill>
          <a:ln cap="flat" cmpd="sng" w="14300">
            <a:solidFill>
              <a:srgbClr val="4A556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259100" cy="914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3" name="Google Shape;133;p18"/>
          <p:cNvGrpSpPr/>
          <p:nvPr/>
        </p:nvGrpSpPr>
        <p:grpSpPr>
          <a:xfrm>
            <a:off x="762000" y="523875"/>
            <a:ext cx="14735100" cy="1428750"/>
            <a:chOff x="762000" y="523875"/>
            <a:chExt cx="14735100" cy="1428750"/>
          </a:xfrm>
        </p:grpSpPr>
        <p:sp>
          <p:nvSpPr>
            <p:cNvPr id="134" name="Google Shape;134;p18"/>
            <p:cNvSpPr txBox="1"/>
            <p:nvPr/>
          </p:nvSpPr>
          <p:spPr>
            <a:xfrm>
              <a:off x="762000" y="523875"/>
              <a:ext cx="14735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MÓDULO 1: O MESTRE DO TEMPO (GIT)</a:t>
              </a:r>
              <a:endParaRPr b="1" sz="12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35" name="Google Shape;135;p18"/>
            <p:cNvSpPr txBox="1"/>
            <p:nvPr/>
          </p:nvSpPr>
          <p:spPr>
            <a:xfrm>
              <a:off x="762000" y="857250"/>
              <a:ext cx="147351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 que é o Git?</a:t>
              </a:r>
              <a:endParaRPr b="1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18"/>
            <p:cNvSpPr txBox="1"/>
            <p:nvPr/>
          </p:nvSpPr>
          <p:spPr>
            <a:xfrm>
              <a:off x="762000" y="1571625"/>
              <a:ext cx="14735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A0AEC0"/>
                  </a:solidFill>
                  <a:latin typeface="Arial"/>
                  <a:ea typeface="Arial"/>
                  <a:cs typeface="Arial"/>
                  <a:sym typeface="Arial"/>
                </a:rPr>
                <a:t>A ferramenta essencial que revolucionou a forma como criamos e mantemos software.</a:t>
              </a:r>
              <a:endParaRPr b="0" sz="160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7" name="Google Shape;137;p18"/>
          <p:cNvGrpSpPr/>
          <p:nvPr/>
        </p:nvGrpSpPr>
        <p:grpSpPr>
          <a:xfrm>
            <a:off x="762002" y="2120133"/>
            <a:ext cx="4748936" cy="4452284"/>
            <a:chOff x="762000" y="2286000"/>
            <a:chExt cx="4572000" cy="4286400"/>
          </a:xfrm>
        </p:grpSpPr>
        <p:sp>
          <p:nvSpPr>
            <p:cNvPr id="138" name="Google Shape;138;p18"/>
            <p:cNvSpPr/>
            <p:nvPr/>
          </p:nvSpPr>
          <p:spPr>
            <a:xfrm>
              <a:off x="762000" y="2286000"/>
              <a:ext cx="4572000" cy="4286400"/>
            </a:xfrm>
            <a:prstGeom prst="roundRect">
              <a:avLst>
                <a:gd fmla="val 3555" name="adj"/>
              </a:avLst>
            </a:prstGeom>
            <a:solidFill>
              <a:srgbClr val="2D3748">
                <a:alpha val="40000"/>
              </a:srgbClr>
            </a:solidFill>
            <a:ln cap="flat" cmpd="sng" w="14850">
              <a:solidFill>
                <a:srgbClr val="4A556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8"/>
            <p:cNvSpPr txBox="1"/>
            <p:nvPr/>
          </p:nvSpPr>
          <p:spPr>
            <a:xfrm>
              <a:off x="1143000" y="2667000"/>
              <a:ext cx="3810000" cy="35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7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Controle de Versão</a:t>
              </a:r>
              <a:endParaRPr b="1" sz="187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58"/>
                </a:spcBef>
                <a:spcAft>
                  <a:spcPts val="0"/>
                </a:spcAft>
                <a:buNone/>
              </a:pPr>
              <a:r>
                <a:rPr b="0" lang="en-US" sz="1766">
                  <a:solidFill>
                    <a:srgbClr val="CBD5E0"/>
                  </a:solidFill>
                  <a:latin typeface="Arial"/>
                  <a:ea typeface="Arial"/>
                  <a:cs typeface="Arial"/>
                  <a:sym typeface="Arial"/>
                </a:rPr>
                <a:t>O Git é um sistema de </a:t>
              </a:r>
              <a:r>
                <a:rPr b="1" lang="en-US" sz="1766">
                  <a:solidFill>
                    <a:srgbClr val="CBD5E0"/>
                  </a:solidFill>
                  <a:latin typeface="Arial"/>
                  <a:ea typeface="Arial"/>
                  <a:cs typeface="Arial"/>
                  <a:sym typeface="Arial"/>
                </a:rPr>
                <a:t>Controle de Versão Distribuído (DVCS)</a:t>
              </a:r>
              <a:r>
                <a:rPr b="0" lang="en-US" sz="1766">
                  <a:solidFill>
                    <a:srgbClr val="CBD5E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sz="1766">
                <a:solidFill>
                  <a:srgbClr val="CBD5E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69"/>
                </a:spcBef>
                <a:spcAft>
                  <a:spcPts val="0"/>
                </a:spcAft>
                <a:buNone/>
              </a:pPr>
              <a:r>
                <a:rPr b="0" lang="en-US" sz="1766">
                  <a:solidFill>
                    <a:srgbClr val="CBD5E0"/>
                  </a:solidFill>
                  <a:latin typeface="Arial"/>
                  <a:ea typeface="Arial"/>
                  <a:cs typeface="Arial"/>
                  <a:sym typeface="Arial"/>
                </a:rPr>
                <a:t>Ele funciona como uma máquina do tempo para o seu código, registrando cada alteração individual para que você possa reverter erros ou comparar versões com total segurança.</a:t>
              </a:r>
              <a:endParaRPr b="0" sz="1766">
                <a:solidFill>
                  <a:srgbClr val="CBD5E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0" name="Google Shape;140;p18"/>
          <p:cNvGrpSpPr/>
          <p:nvPr/>
        </p:nvGrpSpPr>
        <p:grpSpPr>
          <a:xfrm>
            <a:off x="5619918" y="2120321"/>
            <a:ext cx="4748936" cy="4452284"/>
            <a:chOff x="5619750" y="2286000"/>
            <a:chExt cx="4572000" cy="4286400"/>
          </a:xfrm>
        </p:grpSpPr>
        <p:sp>
          <p:nvSpPr>
            <p:cNvPr id="141" name="Google Shape;141;p18"/>
            <p:cNvSpPr/>
            <p:nvPr/>
          </p:nvSpPr>
          <p:spPr>
            <a:xfrm>
              <a:off x="5619750" y="2286000"/>
              <a:ext cx="4572000" cy="4286400"/>
            </a:xfrm>
            <a:prstGeom prst="roundRect">
              <a:avLst>
                <a:gd fmla="val 3555" name="adj"/>
              </a:avLst>
            </a:prstGeom>
            <a:solidFill>
              <a:srgbClr val="2D3748">
                <a:alpha val="40000"/>
              </a:srgbClr>
            </a:solidFill>
            <a:ln cap="flat" cmpd="sng" w="14850">
              <a:solidFill>
                <a:srgbClr val="4A556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8"/>
            <p:cNvSpPr txBox="1"/>
            <p:nvPr/>
          </p:nvSpPr>
          <p:spPr>
            <a:xfrm>
              <a:off x="6000750" y="2667000"/>
              <a:ext cx="3810000" cy="35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7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Como Ele Funciona?</a:t>
              </a:r>
              <a:endParaRPr b="1" sz="187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58"/>
                </a:spcBef>
                <a:spcAft>
                  <a:spcPts val="0"/>
                </a:spcAft>
                <a:buNone/>
              </a:pPr>
              <a:r>
                <a:rPr b="0" lang="en-US" sz="1766">
                  <a:solidFill>
                    <a:srgbClr val="CBD5E0"/>
                  </a:solidFill>
                  <a:latin typeface="Arial"/>
                  <a:ea typeface="Arial"/>
                  <a:cs typeface="Arial"/>
                  <a:sym typeface="Arial"/>
                </a:rPr>
                <a:t>Diferente de sistemas antigos, o Git não depende de uma conexão constante com a internet:</a:t>
              </a:r>
              <a:endParaRPr b="0" sz="1766">
                <a:solidFill>
                  <a:srgbClr val="CBD5E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9564" lvl="0" marL="474880" rtl="0" algn="l">
                <a:spcBef>
                  <a:spcPts val="1169"/>
                </a:spcBef>
                <a:spcAft>
                  <a:spcPts val="0"/>
                </a:spcAft>
                <a:buClr>
                  <a:srgbClr val="CBD5E0"/>
                </a:buClr>
                <a:buSzPts val="1766"/>
                <a:buFont typeface="Arial"/>
                <a:buChar char="●"/>
              </a:pPr>
              <a:r>
                <a:rPr b="1" lang="en-US" sz="1766">
                  <a:solidFill>
                    <a:srgbClr val="CBD5E0"/>
                  </a:solidFill>
                  <a:latin typeface="Arial"/>
                  <a:ea typeface="Arial"/>
                  <a:cs typeface="Arial"/>
                  <a:sym typeface="Arial"/>
                </a:rPr>
                <a:t>Histórico Local:</a:t>
              </a:r>
              <a:r>
                <a:rPr b="0" lang="en-US" sz="1766">
                  <a:solidFill>
                    <a:srgbClr val="CBD5E0"/>
                  </a:solidFill>
                  <a:latin typeface="Arial"/>
                  <a:ea typeface="Arial"/>
                  <a:cs typeface="Arial"/>
                  <a:sym typeface="Arial"/>
                </a:rPr>
                <a:t> Toda a árvore de commits fica salva no seu próprio computador.</a:t>
              </a:r>
              <a:endParaRPr b="0" sz="1766">
                <a:solidFill>
                  <a:srgbClr val="CBD5E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9564" lvl="0" marL="474880" rtl="0" algn="l">
                <a:spcBef>
                  <a:spcPts val="935"/>
                </a:spcBef>
                <a:spcAft>
                  <a:spcPts val="935"/>
                </a:spcAft>
                <a:buClr>
                  <a:srgbClr val="CBD5E0"/>
                </a:buClr>
                <a:buSzPts val="1766"/>
                <a:buFont typeface="Arial"/>
                <a:buChar char="●"/>
              </a:pPr>
              <a:r>
                <a:rPr b="1" lang="en-US" sz="1766">
                  <a:solidFill>
                    <a:srgbClr val="CBD5E0"/>
                  </a:solidFill>
                  <a:latin typeface="Arial"/>
                  <a:ea typeface="Arial"/>
                  <a:cs typeface="Arial"/>
                  <a:sym typeface="Arial"/>
                </a:rPr>
                <a:t>Snapshots Rápidos:</a:t>
              </a:r>
              <a:r>
                <a:rPr b="0" lang="en-US" sz="1766">
                  <a:solidFill>
                    <a:srgbClr val="CBD5E0"/>
                  </a:solidFill>
                  <a:latin typeface="Arial"/>
                  <a:ea typeface="Arial"/>
                  <a:cs typeface="Arial"/>
                  <a:sym typeface="Arial"/>
                </a:rPr>
                <a:t> Ele tira fotos do estado dos seus arquivos em vez de apenas salvar as diferenças.</a:t>
              </a:r>
              <a:endParaRPr b="0" sz="1766">
                <a:solidFill>
                  <a:srgbClr val="CBD5E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3" name="Google Shape;143;p18"/>
          <p:cNvGrpSpPr/>
          <p:nvPr/>
        </p:nvGrpSpPr>
        <p:grpSpPr>
          <a:xfrm>
            <a:off x="10477521" y="2120130"/>
            <a:ext cx="5213859" cy="4452284"/>
            <a:chOff x="10477500" y="2286000"/>
            <a:chExt cx="5019600" cy="4286400"/>
          </a:xfrm>
        </p:grpSpPr>
        <p:sp>
          <p:nvSpPr>
            <p:cNvPr id="144" name="Google Shape;144;p18"/>
            <p:cNvSpPr/>
            <p:nvPr/>
          </p:nvSpPr>
          <p:spPr>
            <a:xfrm>
              <a:off x="10477500" y="2286000"/>
              <a:ext cx="5019600" cy="4286400"/>
            </a:xfrm>
            <a:prstGeom prst="roundRect">
              <a:avLst>
                <a:gd fmla="val 3555" name="adj"/>
              </a:avLst>
            </a:prstGeom>
            <a:solidFill>
              <a:srgbClr val="2D3748">
                <a:alpha val="40000"/>
              </a:srgbClr>
            </a:solidFill>
            <a:ln cap="flat" cmpd="sng" w="14850">
              <a:solidFill>
                <a:srgbClr val="4A556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8"/>
            <p:cNvSpPr txBox="1"/>
            <p:nvPr/>
          </p:nvSpPr>
          <p:spPr>
            <a:xfrm>
              <a:off x="10858500" y="2667000"/>
              <a:ext cx="4257600" cy="35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7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Principais Benefícios</a:t>
              </a:r>
              <a:endParaRPr b="1" sz="187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5396" lvl="0" marL="474892" rtl="0" algn="l">
                <a:spcBef>
                  <a:spcPts val="1558"/>
                </a:spcBef>
                <a:spcAft>
                  <a:spcPts val="0"/>
                </a:spcAft>
                <a:buClr>
                  <a:srgbClr val="CBD5E0"/>
                </a:buClr>
                <a:buSzPts val="1700"/>
                <a:buFont typeface="Arial"/>
                <a:buChar char="●"/>
              </a:pPr>
              <a:r>
                <a:rPr b="1" lang="en-US" sz="1700">
                  <a:solidFill>
                    <a:srgbClr val="CBD5E0"/>
                  </a:solidFill>
                  <a:latin typeface="Arial"/>
                  <a:ea typeface="Arial"/>
                  <a:cs typeface="Arial"/>
                  <a:sym typeface="Arial"/>
                </a:rPr>
                <a:t>Ramificações (Branches):</a:t>
              </a:r>
              <a:r>
                <a:rPr b="0" lang="en-US" sz="1700">
                  <a:solidFill>
                    <a:srgbClr val="CBD5E0"/>
                  </a:solidFill>
                  <a:latin typeface="Arial"/>
                  <a:ea typeface="Arial"/>
                  <a:cs typeface="Arial"/>
                  <a:sym typeface="Arial"/>
                </a:rPr>
                <a:t> Crie caminhos paralelos para testar novas ideias sem quebrar o código principal.</a:t>
              </a:r>
              <a:endParaRPr b="0" sz="1700">
                <a:solidFill>
                  <a:srgbClr val="CBD5E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5396" lvl="0" marL="474892" rtl="0" algn="l">
                <a:spcBef>
                  <a:spcPts val="935"/>
                </a:spcBef>
                <a:spcAft>
                  <a:spcPts val="0"/>
                </a:spcAft>
                <a:buClr>
                  <a:srgbClr val="CBD5E0"/>
                </a:buClr>
                <a:buSzPts val="1700"/>
                <a:buFont typeface="Arial"/>
                <a:buChar char="●"/>
              </a:pPr>
              <a:r>
                <a:rPr b="1" lang="en-US" sz="1700">
                  <a:solidFill>
                    <a:srgbClr val="CBD5E0"/>
                  </a:solidFill>
                  <a:latin typeface="Arial"/>
                  <a:ea typeface="Arial"/>
                  <a:cs typeface="Arial"/>
                  <a:sym typeface="Arial"/>
                </a:rPr>
                <a:t>Trabalho em Equipe:</a:t>
              </a:r>
              <a:r>
                <a:rPr b="0" lang="en-US" sz="1700">
                  <a:solidFill>
                    <a:srgbClr val="CBD5E0"/>
                  </a:solidFill>
                  <a:latin typeface="Arial"/>
                  <a:ea typeface="Arial"/>
                  <a:cs typeface="Arial"/>
                  <a:sym typeface="Arial"/>
                </a:rPr>
                <a:t> Permite que milhares de desenvolvedores editem os mesmos arquivos sem sobrescrever o trabalho alheio.</a:t>
              </a:r>
              <a:endParaRPr b="0" sz="1700">
                <a:solidFill>
                  <a:srgbClr val="CBD5E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5396" lvl="0" marL="474892" rtl="0" algn="l">
                <a:spcBef>
                  <a:spcPts val="935"/>
                </a:spcBef>
                <a:spcAft>
                  <a:spcPts val="935"/>
                </a:spcAft>
                <a:buClr>
                  <a:srgbClr val="CBD5E0"/>
                </a:buClr>
                <a:buSzPts val="1700"/>
                <a:buFont typeface="Arial"/>
                <a:buChar char="●"/>
              </a:pPr>
              <a:r>
                <a:rPr b="1" lang="en-US" sz="1700">
                  <a:solidFill>
                    <a:srgbClr val="CBD5E0"/>
                  </a:solidFill>
                  <a:latin typeface="Arial"/>
                  <a:ea typeface="Arial"/>
                  <a:cs typeface="Arial"/>
                  <a:sym typeface="Arial"/>
                </a:rPr>
                <a:t>Rastreabilidade total:</a:t>
              </a:r>
              <a:r>
                <a:rPr b="0" lang="en-US" sz="1700">
                  <a:solidFill>
                    <a:srgbClr val="CBD5E0"/>
                  </a:solidFill>
                  <a:latin typeface="Arial"/>
                  <a:ea typeface="Arial"/>
                  <a:cs typeface="Arial"/>
                  <a:sym typeface="Arial"/>
                </a:rPr>
                <a:t> Saiba exatamente quem escreveu cada linha de código.</a:t>
              </a:r>
              <a:endParaRPr b="0" sz="1700">
                <a:solidFill>
                  <a:srgbClr val="CBD5E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6" name="Google Shape;146;p18"/>
          <p:cNvGrpSpPr/>
          <p:nvPr/>
        </p:nvGrpSpPr>
        <p:grpSpPr>
          <a:xfrm>
            <a:off x="762000" y="6953250"/>
            <a:ext cx="14735100" cy="1047900"/>
            <a:chOff x="762000" y="6953250"/>
            <a:chExt cx="14735100" cy="1047900"/>
          </a:xfrm>
        </p:grpSpPr>
        <p:sp>
          <p:nvSpPr>
            <p:cNvPr id="147" name="Google Shape;147;p18"/>
            <p:cNvSpPr/>
            <p:nvPr/>
          </p:nvSpPr>
          <p:spPr>
            <a:xfrm>
              <a:off x="762000" y="6953250"/>
              <a:ext cx="14735100" cy="1047900"/>
            </a:xfrm>
            <a:prstGeom prst="roundRect">
              <a:avLst>
                <a:gd fmla="val 14545" name="adj"/>
              </a:avLst>
            </a:prstGeom>
            <a:solidFill>
              <a:srgbClr val="2D3748">
                <a:alpha val="30000"/>
              </a:srgbClr>
            </a:solidFill>
            <a:ln cap="flat" cmpd="sng" w="9525">
              <a:solidFill>
                <a:srgbClr val="4A556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8"/>
            <p:cNvSpPr txBox="1"/>
            <p:nvPr/>
          </p:nvSpPr>
          <p:spPr>
            <a:xfrm>
              <a:off x="1143000" y="7143750"/>
              <a:ext cx="139731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CBD5E0"/>
                  </a:solidFill>
                  <a:latin typeface="Arial"/>
                  <a:ea typeface="Arial"/>
                  <a:cs typeface="Arial"/>
                  <a:sym typeface="Arial"/>
                </a:rPr>
                <a:t>💡 </a:t>
              </a:r>
              <a:r>
                <a:rPr b="1" lang="en-US" sz="13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Resumo Prático:</a:t>
              </a:r>
              <a:r>
                <a:rPr b="0" lang="en-US" sz="1300">
                  <a:solidFill>
                    <a:srgbClr val="CBD5E0"/>
                  </a:solidFill>
                  <a:latin typeface="Arial"/>
                  <a:ea typeface="Arial"/>
                  <a:cs typeface="Arial"/>
                  <a:sym typeface="Arial"/>
                </a:rPr>
                <a:t> O Git é a fundação da engenharia moderna. Sem ele, gerenciar projetos complexos de software seria um caos lento, propenso a falhas e perdas de dados constantes.</a:t>
              </a:r>
              <a:endParaRPr b="0" sz="1300">
                <a:solidFill>
                  <a:srgbClr val="CBD5E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19"/>
          <p:cNvGrpSpPr/>
          <p:nvPr/>
        </p:nvGrpSpPr>
        <p:grpSpPr>
          <a:xfrm>
            <a:off x="762000" y="523875"/>
            <a:ext cx="14735100" cy="1333500"/>
            <a:chOff x="762000" y="523875"/>
            <a:chExt cx="14735100" cy="1333500"/>
          </a:xfrm>
        </p:grpSpPr>
        <p:sp>
          <p:nvSpPr>
            <p:cNvPr id="154" name="Google Shape;154;p19"/>
            <p:cNvSpPr txBox="1"/>
            <p:nvPr/>
          </p:nvSpPr>
          <p:spPr>
            <a:xfrm>
              <a:off x="762000" y="523875"/>
              <a:ext cx="14735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MÓDULO 1: O MESTRE DO TEMPO (GIT)</a:t>
              </a:r>
              <a:endParaRPr b="1" sz="12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55" name="Google Shape;155;p19"/>
            <p:cNvSpPr txBox="1"/>
            <p:nvPr/>
          </p:nvSpPr>
          <p:spPr>
            <a:xfrm>
              <a:off x="762000" y="809625"/>
              <a:ext cx="147351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Como Instalar o Git?</a:t>
              </a:r>
              <a:endParaRPr b="1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19"/>
            <p:cNvSpPr txBox="1"/>
            <p:nvPr/>
          </p:nvSpPr>
          <p:spPr>
            <a:xfrm>
              <a:off x="762000" y="1476375"/>
              <a:ext cx="147351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O Git pode ser instalado facilmente em qualquer sistema operacional através de seus gerenciadores de pacotes oficiais.</a:t>
              </a:r>
              <a:endParaRPr b="0" sz="14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7" name="Google Shape;157;p19"/>
          <p:cNvGrpSpPr/>
          <p:nvPr/>
        </p:nvGrpSpPr>
        <p:grpSpPr>
          <a:xfrm>
            <a:off x="762000" y="2095500"/>
            <a:ext cx="4572000" cy="4381500"/>
            <a:chOff x="762000" y="2095500"/>
            <a:chExt cx="4572000" cy="4381500"/>
          </a:xfrm>
        </p:grpSpPr>
        <p:sp>
          <p:nvSpPr>
            <p:cNvPr id="158" name="Google Shape;158;p19"/>
            <p:cNvSpPr/>
            <p:nvPr/>
          </p:nvSpPr>
          <p:spPr>
            <a:xfrm>
              <a:off x="762000" y="2095500"/>
              <a:ext cx="4572000" cy="4381500"/>
            </a:xfrm>
            <a:prstGeom prst="roundRect">
              <a:avLst>
                <a:gd fmla="val 3478" name="adj"/>
              </a:avLst>
            </a:prstGeom>
            <a:solidFill>
              <a:srgbClr val="1E293B">
                <a:alpha val="6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9"/>
            <p:cNvSpPr txBox="1"/>
            <p:nvPr/>
          </p:nvSpPr>
          <p:spPr>
            <a:xfrm>
              <a:off x="1143000" y="3619500"/>
              <a:ext cx="3810000" cy="2190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Por que usar:</a:t>
              </a:r>
              <a:r>
                <a:rPr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O Winget é o gerenciador de pacotes nativo e moderno do Windows, eliminando instaladores manuais (.exe).</a:t>
              </a:r>
              <a:endParaRPr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 que faz:</a:t>
              </a:r>
              <a:r>
                <a:rPr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Busca o repositório oficial, baixa silenciosamente e configura de forma automática as variáveis de ambiente necessárias.</a:t>
              </a:r>
              <a:endParaRPr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9"/>
            <p:cNvSpPr txBox="1"/>
            <p:nvPr/>
          </p:nvSpPr>
          <p:spPr>
            <a:xfrm>
              <a:off x="1143000" y="2381250"/>
              <a:ext cx="38100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laptop_windows</a:t>
              </a:r>
              <a:r>
                <a:rPr b="1"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Windows </a:t>
              </a:r>
              <a:r>
                <a:rPr b="0" lang="en-US" sz="12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(via Winget)</a:t>
              </a:r>
              <a:endParaRPr b="1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9"/>
            <p:cNvSpPr txBox="1"/>
            <p:nvPr/>
          </p:nvSpPr>
          <p:spPr>
            <a:xfrm>
              <a:off x="1238250" y="3048000"/>
              <a:ext cx="3619500" cy="333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winget install Git.Git</a:t>
              </a:r>
              <a:endParaRPr b="1" sz="1600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62" name="Google Shape;162;p19"/>
          <p:cNvGrpSpPr/>
          <p:nvPr/>
        </p:nvGrpSpPr>
        <p:grpSpPr>
          <a:xfrm>
            <a:off x="5838825" y="2095500"/>
            <a:ext cx="4572000" cy="4381500"/>
            <a:chOff x="5838825" y="2095500"/>
            <a:chExt cx="4572000" cy="4381500"/>
          </a:xfrm>
        </p:grpSpPr>
        <p:sp>
          <p:nvSpPr>
            <p:cNvPr id="163" name="Google Shape;163;p19"/>
            <p:cNvSpPr/>
            <p:nvPr/>
          </p:nvSpPr>
          <p:spPr>
            <a:xfrm>
              <a:off x="5838825" y="2095500"/>
              <a:ext cx="4572000" cy="4381500"/>
            </a:xfrm>
            <a:prstGeom prst="roundRect">
              <a:avLst>
                <a:gd fmla="val 3478" name="adj"/>
              </a:avLst>
            </a:prstGeom>
            <a:solidFill>
              <a:srgbClr val="1E293B">
                <a:alpha val="6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9"/>
            <p:cNvSpPr txBox="1"/>
            <p:nvPr/>
          </p:nvSpPr>
          <p:spPr>
            <a:xfrm>
              <a:off x="6219825" y="3619500"/>
              <a:ext cx="3810000" cy="2190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Por que usar:</a:t>
              </a:r>
              <a:r>
                <a:rPr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O Homebrew é o padrão de fato para desenvolvedores no Mac, centralizando pacotes e dependências de forma limpa.</a:t>
              </a:r>
              <a:endParaRPr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 que faz:</a:t>
              </a:r>
              <a:r>
                <a:rPr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Compila ou baixa a versão estável mais recente adaptada à sua arquitetura (Intel/Apple Silicon) e cria os atalhos automaticamente.</a:t>
              </a:r>
              <a:endParaRPr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9"/>
            <p:cNvSpPr txBox="1"/>
            <p:nvPr/>
          </p:nvSpPr>
          <p:spPr>
            <a:xfrm>
              <a:off x="6219825" y="2381250"/>
              <a:ext cx="38100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laptop_mac</a:t>
              </a:r>
              <a:r>
                <a:rPr b="1"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macOS </a:t>
              </a:r>
              <a:r>
                <a:rPr b="0" lang="en-US" sz="12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(via Homebrew)</a:t>
              </a:r>
              <a:endParaRPr b="1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19"/>
            <p:cNvSpPr txBox="1"/>
            <p:nvPr/>
          </p:nvSpPr>
          <p:spPr>
            <a:xfrm>
              <a:off x="6315075" y="3048000"/>
              <a:ext cx="3619500" cy="333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0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brew install git</a:t>
              </a:r>
              <a:endParaRPr b="1" sz="1900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67" name="Google Shape;167;p19"/>
          <p:cNvGrpSpPr/>
          <p:nvPr/>
        </p:nvGrpSpPr>
        <p:grpSpPr>
          <a:xfrm>
            <a:off x="10925175" y="2095500"/>
            <a:ext cx="4572000" cy="4381500"/>
            <a:chOff x="10925175" y="2095500"/>
            <a:chExt cx="4572000" cy="4381500"/>
          </a:xfrm>
        </p:grpSpPr>
        <p:sp>
          <p:nvSpPr>
            <p:cNvPr id="168" name="Google Shape;168;p19"/>
            <p:cNvSpPr/>
            <p:nvPr/>
          </p:nvSpPr>
          <p:spPr>
            <a:xfrm>
              <a:off x="10925175" y="2095500"/>
              <a:ext cx="4572000" cy="4381500"/>
            </a:xfrm>
            <a:prstGeom prst="roundRect">
              <a:avLst>
                <a:gd fmla="val 3478" name="adj"/>
              </a:avLst>
            </a:prstGeom>
            <a:solidFill>
              <a:srgbClr val="1E293B">
                <a:alpha val="6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9"/>
            <p:cNvSpPr txBox="1"/>
            <p:nvPr/>
          </p:nvSpPr>
          <p:spPr>
            <a:xfrm>
              <a:off x="11306175" y="3619500"/>
              <a:ext cx="3810000" cy="2190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Por que usar:</a:t>
              </a:r>
              <a:r>
                <a:rPr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O APT é nativo em distros baseadas em Debian/Ubuntu, garantindo total estabilidade, compatibilidade e segurança do sistema.</a:t>
              </a:r>
              <a:endParaRPr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 que faz:</a:t>
              </a:r>
              <a:r>
                <a:rPr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O primeiro comando atualiza as listas locais e o segundo realiza o download, resolvendo dependências automaticamente sob privilégios sudo.</a:t>
              </a:r>
              <a:endParaRPr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19"/>
            <p:cNvSpPr txBox="1"/>
            <p:nvPr/>
          </p:nvSpPr>
          <p:spPr>
            <a:xfrm>
              <a:off x="11306175" y="2381250"/>
              <a:ext cx="38100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terminal</a:t>
              </a:r>
              <a:r>
                <a:rPr b="1"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Linux </a:t>
              </a:r>
              <a:r>
                <a:rPr b="0" lang="en-US" sz="12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(via APT)</a:t>
              </a:r>
              <a:endParaRPr b="1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19"/>
            <p:cNvSpPr txBox="1"/>
            <p:nvPr/>
          </p:nvSpPr>
          <p:spPr>
            <a:xfrm>
              <a:off x="11109025" y="2904900"/>
              <a:ext cx="41673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sudo apt update &amp;&amp; sudo apt install git</a:t>
              </a:r>
              <a:endParaRPr b="1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72" name="Google Shape;172;p19"/>
          <p:cNvGrpSpPr/>
          <p:nvPr/>
        </p:nvGrpSpPr>
        <p:grpSpPr>
          <a:xfrm>
            <a:off x="762000" y="6810375"/>
            <a:ext cx="14735100" cy="857400"/>
            <a:chOff x="762000" y="6810375"/>
            <a:chExt cx="14735100" cy="857400"/>
          </a:xfrm>
        </p:grpSpPr>
        <p:sp>
          <p:nvSpPr>
            <p:cNvPr id="173" name="Google Shape;173;p19"/>
            <p:cNvSpPr/>
            <p:nvPr/>
          </p:nvSpPr>
          <p:spPr>
            <a:xfrm>
              <a:off x="762000" y="6810375"/>
              <a:ext cx="14735100" cy="857400"/>
            </a:xfrm>
            <a:prstGeom prst="roundRect">
              <a:avLst>
                <a:gd fmla="val 13333" name="adj"/>
              </a:avLst>
            </a:prstGeom>
            <a:solidFill>
              <a:srgbClr val="0F172A">
                <a:alpha val="80000"/>
              </a:srgbClr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9"/>
            <p:cNvSpPr txBox="1"/>
            <p:nvPr/>
          </p:nvSpPr>
          <p:spPr>
            <a:xfrm>
              <a:off x="1143000" y="6953250"/>
              <a:ext cx="139731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lightbulb</a:t>
              </a:r>
              <a:r>
                <a:rPr lang="en-US" sz="12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lang="en-US" sz="1200">
                  <a:solidFill>
                    <a:srgbClr val="34D399"/>
                  </a:solidFill>
                  <a:latin typeface="Arial"/>
                  <a:ea typeface="Arial"/>
                  <a:cs typeface="Arial"/>
                  <a:sym typeface="Arial"/>
                </a:rPr>
                <a:t>Dica de Sucesso:</a:t>
              </a:r>
              <a:r>
                <a:rPr lang="en-US" sz="12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200">
                  <a:solidFill>
                    <a:srgbClr val="E2E8F0"/>
                  </a:solidFill>
                  <a:latin typeface="Arial"/>
                  <a:ea typeface="Arial"/>
                  <a:cs typeface="Arial"/>
                  <a:sym typeface="Arial"/>
                </a:rPr>
                <a:t>Após a instalação, abra seu terminal e verifique o sucesso digitando:</a:t>
              </a:r>
              <a:r>
                <a:rPr lang="en-US" sz="12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lang="en-US" sz="1200">
                  <a:solidFill>
                    <a:srgbClr val="34D399"/>
                  </a:solidFill>
                  <a:highlight>
                    <a:srgbClr val="1E293B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git --version</a:t>
              </a:r>
              <a:endParaRPr sz="12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0"/>
          <p:cNvPicPr preferRelativeResize="0"/>
          <p:nvPr/>
        </p:nvPicPr>
        <p:blipFill rotWithShape="1">
          <a:blip r:embed="rId4">
            <a:alphaModFix amt="15000"/>
          </a:blip>
          <a:srcRect b="0" l="0" r="0" t="0"/>
          <a:stretch/>
        </p:blipFill>
        <p:spPr>
          <a:xfrm>
            <a:off x="0" y="0"/>
            <a:ext cx="16259100" cy="9144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grpSp>
        <p:nvGrpSpPr>
          <p:cNvPr id="180" name="Google Shape;180;p20"/>
          <p:cNvGrpSpPr/>
          <p:nvPr/>
        </p:nvGrpSpPr>
        <p:grpSpPr>
          <a:xfrm>
            <a:off x="762000" y="523875"/>
            <a:ext cx="14735100" cy="1238250"/>
            <a:chOff x="762000" y="523875"/>
            <a:chExt cx="14735100" cy="1238250"/>
          </a:xfrm>
        </p:grpSpPr>
        <p:sp>
          <p:nvSpPr>
            <p:cNvPr id="181" name="Google Shape;181;p20"/>
            <p:cNvSpPr txBox="1"/>
            <p:nvPr/>
          </p:nvSpPr>
          <p:spPr>
            <a:xfrm>
              <a:off x="762000" y="523875"/>
              <a:ext cx="14735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MÓDULO 1: O MESTRE DO TEMPO (GIT)</a:t>
              </a:r>
              <a:endParaRPr b="1" sz="12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82" name="Google Shape;182;p20"/>
            <p:cNvSpPr txBox="1"/>
            <p:nvPr/>
          </p:nvSpPr>
          <p:spPr>
            <a:xfrm>
              <a:off x="762000" y="809625"/>
              <a:ext cx="147351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51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Comandos Essenciais do Git</a:t>
              </a:r>
              <a:endParaRPr b="1" sz="351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20"/>
            <p:cNvSpPr txBox="1"/>
            <p:nvPr/>
          </p:nvSpPr>
          <p:spPr>
            <a:xfrm>
              <a:off x="762000" y="1381125"/>
              <a:ext cx="14735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Entenda o ciclo fundamental de versionamento de código através dos três pilares básicos de controle.</a:t>
              </a:r>
              <a:endParaRPr sz="15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4" name="Google Shape;184;p20"/>
          <p:cNvGrpSpPr/>
          <p:nvPr/>
        </p:nvGrpSpPr>
        <p:grpSpPr>
          <a:xfrm>
            <a:off x="762000" y="2047875"/>
            <a:ext cx="4667400" cy="4667400"/>
            <a:chOff x="762000" y="2047875"/>
            <a:chExt cx="4667400" cy="4667400"/>
          </a:xfrm>
        </p:grpSpPr>
        <p:sp>
          <p:nvSpPr>
            <p:cNvPr id="185" name="Google Shape;185;p20"/>
            <p:cNvSpPr/>
            <p:nvPr/>
          </p:nvSpPr>
          <p:spPr>
            <a:xfrm>
              <a:off x="762000" y="2047875"/>
              <a:ext cx="4667400" cy="4667400"/>
            </a:xfrm>
            <a:prstGeom prst="roundRect">
              <a:avLst>
                <a:gd fmla="val 3265" name="adj"/>
              </a:avLst>
            </a:prstGeom>
            <a:solidFill>
              <a:srgbClr val="1E293B">
                <a:alpha val="6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0"/>
            <p:cNvSpPr txBox="1"/>
            <p:nvPr/>
          </p:nvSpPr>
          <p:spPr>
            <a:xfrm>
              <a:off x="1095375" y="2333625"/>
              <a:ext cx="4000500" cy="40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200">
                  <a:solidFill>
                    <a:srgbClr val="10B98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01</a:t>
              </a:r>
              <a:endParaRPr b="0" sz="4200">
                <a:solidFill>
                  <a:srgbClr val="10B98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git init</a:t>
              </a:r>
              <a:endPara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34D399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git init [nome-diretorio]</a:t>
              </a:r>
              <a:endParaRPr b="1" sz="1300">
                <a:solidFill>
                  <a:srgbClr val="34D399"/>
                </a:solidFill>
                <a:highlight>
                  <a:srgbClr val="0F172A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O primeiro passo para começar a usar o Git. Cria uma pasta oculta chamada </a:t>
              </a:r>
              <a:r>
                <a:rPr b="1"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.git</a:t>
              </a:r>
              <a:r>
                <a:rPr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que armazena todas as configurações de histórico.</a:t>
              </a:r>
              <a:endParaRPr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900"/>
                </a:spcAft>
                <a:buNone/>
              </a:pPr>
              <a:r>
                <a:rPr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Você pode passar o nome de um diretório opcional para criar e inicializar a pasta automaticamente.</a:t>
              </a:r>
              <a:endParaRPr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7" name="Google Shape;187;p20"/>
          <p:cNvGrpSpPr/>
          <p:nvPr/>
        </p:nvGrpSpPr>
        <p:grpSpPr>
          <a:xfrm>
            <a:off x="5791200" y="2047875"/>
            <a:ext cx="4667400" cy="4667400"/>
            <a:chOff x="5791200" y="2047875"/>
            <a:chExt cx="4667400" cy="4667400"/>
          </a:xfrm>
        </p:grpSpPr>
        <p:sp>
          <p:nvSpPr>
            <p:cNvPr id="188" name="Google Shape;188;p20"/>
            <p:cNvSpPr/>
            <p:nvPr/>
          </p:nvSpPr>
          <p:spPr>
            <a:xfrm>
              <a:off x="5791200" y="2047875"/>
              <a:ext cx="4667400" cy="4667400"/>
            </a:xfrm>
            <a:prstGeom prst="roundRect">
              <a:avLst>
                <a:gd fmla="val 3265" name="adj"/>
              </a:avLst>
            </a:prstGeom>
            <a:solidFill>
              <a:srgbClr val="1E293B">
                <a:alpha val="6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0"/>
            <p:cNvSpPr txBox="1"/>
            <p:nvPr/>
          </p:nvSpPr>
          <p:spPr>
            <a:xfrm>
              <a:off x="6124575" y="2333625"/>
              <a:ext cx="4000500" cy="40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200">
                  <a:solidFill>
                    <a:srgbClr val="10B98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02</a:t>
              </a:r>
              <a:endParaRPr b="0" sz="4200">
                <a:solidFill>
                  <a:srgbClr val="10B98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git add</a:t>
              </a:r>
              <a:endPara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34D399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git add . | git add -A</a:t>
              </a:r>
              <a:endParaRPr b="1" sz="1300">
                <a:solidFill>
                  <a:srgbClr val="34D399"/>
                </a:solidFill>
                <a:highlight>
                  <a:srgbClr val="0F172A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Inicia o rastreamento de arquivos novos ou prepara alterações de arquivos existentes, marcando-os como </a:t>
              </a:r>
              <a:r>
                <a:rPr b="1"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"staged"</a:t>
              </a:r>
              <a:r>
                <a:rPr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(preparados).</a:t>
              </a:r>
              <a:endParaRPr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900"/>
                </a:spcAft>
                <a:buNone/>
              </a:pPr>
              <a:r>
                <a:rPr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Use </a:t>
              </a:r>
              <a:r>
                <a:rPr b="1"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git add .</a:t>
              </a:r>
              <a:r>
                <a:rPr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para a pasta atual, </a:t>
              </a:r>
              <a:r>
                <a:rPr b="1"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git add [arquivo]</a:t>
              </a:r>
              <a:r>
                <a:rPr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para um arquivo único ou </a:t>
              </a:r>
              <a:r>
                <a:rPr b="1"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git add -A</a:t>
              </a:r>
              <a:r>
                <a:rPr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para incluir arquivos removidos.</a:t>
              </a:r>
              <a:endParaRPr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0" name="Google Shape;190;p20"/>
          <p:cNvGrpSpPr/>
          <p:nvPr/>
        </p:nvGrpSpPr>
        <p:grpSpPr>
          <a:xfrm>
            <a:off x="10829925" y="2047875"/>
            <a:ext cx="4667400" cy="4667400"/>
            <a:chOff x="10829925" y="2047875"/>
            <a:chExt cx="4667400" cy="4667400"/>
          </a:xfrm>
        </p:grpSpPr>
        <p:sp>
          <p:nvSpPr>
            <p:cNvPr id="191" name="Google Shape;191;p20"/>
            <p:cNvSpPr/>
            <p:nvPr/>
          </p:nvSpPr>
          <p:spPr>
            <a:xfrm>
              <a:off x="10829925" y="2047875"/>
              <a:ext cx="4667400" cy="4667400"/>
            </a:xfrm>
            <a:prstGeom prst="roundRect">
              <a:avLst>
                <a:gd fmla="val 3265" name="adj"/>
              </a:avLst>
            </a:prstGeom>
            <a:solidFill>
              <a:srgbClr val="1E293B">
                <a:alpha val="6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0"/>
            <p:cNvSpPr txBox="1"/>
            <p:nvPr/>
          </p:nvSpPr>
          <p:spPr>
            <a:xfrm>
              <a:off x="11163300" y="2333625"/>
              <a:ext cx="4000500" cy="40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200">
                  <a:solidFill>
                    <a:srgbClr val="10B98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03</a:t>
              </a:r>
              <a:endParaRPr b="0" sz="4200">
                <a:solidFill>
                  <a:srgbClr val="10B98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git commit</a:t>
              </a:r>
              <a:endPara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34D399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git commit -m "mensagem"</a:t>
              </a:r>
              <a:endParaRPr b="1" sz="1300">
                <a:solidFill>
                  <a:srgbClr val="34D399"/>
                </a:solidFill>
                <a:highlight>
                  <a:srgbClr val="0F172A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Cria um registro permanente no histórico. É como tirar uma "foto" do estado atual do seu projeto, salvando tudo o que foi preparado.</a:t>
              </a:r>
              <a:endParaRPr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900"/>
                </a:spcAft>
                <a:buNone/>
              </a:pPr>
              <a:r>
                <a:rPr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Use </a:t>
              </a:r>
              <a:r>
                <a:rPr b="1"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-am "mensagem"</a:t>
              </a:r>
              <a:r>
                <a:rPr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para adicionar alterações de arquivos rastreados e fazer o commit em um único comando.</a:t>
              </a:r>
              <a:endParaRPr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3" name="Google Shape;193;p20"/>
          <p:cNvGrpSpPr/>
          <p:nvPr/>
        </p:nvGrpSpPr>
        <p:grpSpPr>
          <a:xfrm>
            <a:off x="762000" y="7000875"/>
            <a:ext cx="14735100" cy="857400"/>
            <a:chOff x="762000" y="7000875"/>
            <a:chExt cx="14735100" cy="857400"/>
          </a:xfrm>
        </p:grpSpPr>
        <p:sp>
          <p:nvSpPr>
            <p:cNvPr id="194" name="Google Shape;194;p20"/>
            <p:cNvSpPr/>
            <p:nvPr/>
          </p:nvSpPr>
          <p:spPr>
            <a:xfrm>
              <a:off x="762000" y="7000875"/>
              <a:ext cx="14735100" cy="857400"/>
            </a:xfrm>
            <a:prstGeom prst="roundRect">
              <a:avLst>
                <a:gd fmla="val 13333" name="adj"/>
              </a:avLst>
            </a:prstGeom>
            <a:solidFill>
              <a:srgbClr val="0F172A">
                <a:alpha val="80000"/>
              </a:srgbClr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0"/>
            <p:cNvSpPr txBox="1"/>
            <p:nvPr/>
          </p:nvSpPr>
          <p:spPr>
            <a:xfrm>
              <a:off x="1143000" y="7143750"/>
              <a:ext cx="139731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💡 </a:t>
              </a:r>
              <a:r>
                <a:rPr b="1" lang="en-US" sz="12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Dica de Fluxo:</a:t>
              </a:r>
              <a:r>
                <a:rPr lang="en-US" sz="115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 Pense no Git como uma câmera fotográfica. Com o </a:t>
              </a:r>
              <a:r>
                <a:rPr b="1" lang="en-US" sz="11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git init</a:t>
              </a:r>
              <a:r>
                <a:rPr lang="en-US" sz="115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 você liga a câmera. Com o </a:t>
              </a:r>
              <a:r>
                <a:rPr b="1" lang="en-US" sz="11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git add</a:t>
              </a:r>
              <a:r>
                <a:rPr lang="en-US" sz="115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 você posiciona as pessoas para o retrato (staging area). E com o </a:t>
              </a:r>
              <a:r>
                <a:rPr b="1" lang="en-US" sz="11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git commit</a:t>
              </a:r>
              <a:r>
                <a:rPr lang="en-US" sz="115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 você finalmente bate a foto!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6259100" cy="914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1" name="Google Shape;201;p21"/>
          <p:cNvGrpSpPr/>
          <p:nvPr/>
        </p:nvGrpSpPr>
        <p:grpSpPr>
          <a:xfrm>
            <a:off x="762000" y="523875"/>
            <a:ext cx="14735100" cy="1238250"/>
            <a:chOff x="762000" y="523875"/>
            <a:chExt cx="14735100" cy="1238250"/>
          </a:xfrm>
        </p:grpSpPr>
        <p:sp>
          <p:nvSpPr>
            <p:cNvPr id="202" name="Google Shape;202;p21"/>
            <p:cNvSpPr txBox="1"/>
            <p:nvPr/>
          </p:nvSpPr>
          <p:spPr>
            <a:xfrm>
              <a:off x="762000" y="523875"/>
              <a:ext cx="14735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750"/>
                </a:spcAft>
                <a:buNone/>
              </a:pPr>
              <a:r>
                <a:rPr b="1" lang="en-US" sz="12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MÓDULO 1: O MESTRE DO TEMPO (GIT)</a:t>
              </a:r>
              <a:endParaRPr b="1" sz="12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03" name="Google Shape;203;p21"/>
            <p:cNvSpPr txBox="1"/>
            <p:nvPr/>
          </p:nvSpPr>
          <p:spPr>
            <a:xfrm>
              <a:off x="762000" y="809625"/>
              <a:ext cx="147351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750"/>
                </a:spcAft>
                <a:buNone/>
              </a:pPr>
              <a:r>
                <a:rPr b="1" lang="en-US" sz="351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Sincronização e Trabalho Remoto</a:t>
              </a:r>
              <a:endParaRPr b="1" sz="351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21"/>
            <p:cNvSpPr txBox="1"/>
            <p:nvPr/>
          </p:nvSpPr>
          <p:spPr>
            <a:xfrm>
              <a:off x="762000" y="1381125"/>
              <a:ext cx="14735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750"/>
                </a:spcAft>
                <a:buNone/>
              </a:pPr>
              <a:r>
                <a:rPr b="0" lang="en-US" sz="15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Leve seu código local para a nuvem e colabore com outros desenvolvedores usando comandos de rede.</a:t>
              </a:r>
              <a:endParaRPr b="0" sz="15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5" name="Google Shape;205;p21"/>
          <p:cNvGrpSpPr/>
          <p:nvPr/>
        </p:nvGrpSpPr>
        <p:grpSpPr>
          <a:xfrm>
            <a:off x="762000" y="2047875"/>
            <a:ext cx="4667400" cy="4667400"/>
            <a:chOff x="762000" y="2047875"/>
            <a:chExt cx="4667400" cy="4667400"/>
          </a:xfrm>
        </p:grpSpPr>
        <p:sp>
          <p:nvSpPr>
            <p:cNvPr id="206" name="Google Shape;206;p21"/>
            <p:cNvSpPr/>
            <p:nvPr/>
          </p:nvSpPr>
          <p:spPr>
            <a:xfrm>
              <a:off x="762000" y="2047875"/>
              <a:ext cx="4667400" cy="4667400"/>
            </a:xfrm>
            <a:prstGeom prst="roundRect">
              <a:avLst>
                <a:gd fmla="val 3265" name="adj"/>
              </a:avLst>
            </a:prstGeom>
            <a:solidFill>
              <a:srgbClr val="1E293B">
                <a:alpha val="6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1"/>
            <p:cNvSpPr txBox="1"/>
            <p:nvPr/>
          </p:nvSpPr>
          <p:spPr>
            <a:xfrm>
              <a:off x="1095375" y="2333625"/>
              <a:ext cx="4000500" cy="40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200">
                  <a:solidFill>
                    <a:srgbClr val="10B98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0</a:t>
              </a:r>
              <a:r>
                <a:rPr lang="en-US" sz="4200">
                  <a:solidFill>
                    <a:srgbClr val="10B98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4</a:t>
              </a:r>
              <a:endParaRPr b="0" sz="4200">
                <a:solidFill>
                  <a:srgbClr val="10B98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git push</a:t>
              </a:r>
              <a:endPara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34D399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git push origin main</a:t>
              </a:r>
              <a:endParaRPr b="1" sz="1300">
                <a:solidFill>
                  <a:srgbClr val="34D399"/>
                </a:solidFill>
                <a:highlight>
                  <a:srgbClr val="0F172A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Envia seus commits locais para um repositório remoto (como GitHub), tornando seu trabalho disponível online.</a:t>
              </a:r>
              <a:endParaRPr b="0"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750"/>
                </a:spcAft>
                <a:buNone/>
              </a:pPr>
              <a:r>
                <a:rPr b="0"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Use </a:t>
              </a:r>
              <a:r>
                <a:rPr b="1"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git push -u origin nome-da-branch</a:t>
              </a:r>
              <a:r>
                <a:rPr b="0"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para criar e enviar uma nova branch definindo-a como padrão.</a:t>
              </a:r>
              <a:endParaRPr b="0"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8" name="Google Shape;208;p21"/>
          <p:cNvGrpSpPr/>
          <p:nvPr/>
        </p:nvGrpSpPr>
        <p:grpSpPr>
          <a:xfrm>
            <a:off x="5791200" y="2047875"/>
            <a:ext cx="4667400" cy="4667400"/>
            <a:chOff x="5791200" y="2047875"/>
            <a:chExt cx="4667400" cy="4667400"/>
          </a:xfrm>
        </p:grpSpPr>
        <p:sp>
          <p:nvSpPr>
            <p:cNvPr id="209" name="Google Shape;209;p21"/>
            <p:cNvSpPr/>
            <p:nvPr/>
          </p:nvSpPr>
          <p:spPr>
            <a:xfrm>
              <a:off x="5791200" y="2047875"/>
              <a:ext cx="4667400" cy="4667400"/>
            </a:xfrm>
            <a:prstGeom prst="roundRect">
              <a:avLst>
                <a:gd fmla="val 3265" name="adj"/>
              </a:avLst>
            </a:prstGeom>
            <a:solidFill>
              <a:srgbClr val="1E293B">
                <a:alpha val="6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1"/>
            <p:cNvSpPr txBox="1"/>
            <p:nvPr/>
          </p:nvSpPr>
          <p:spPr>
            <a:xfrm>
              <a:off x="6124575" y="2333625"/>
              <a:ext cx="4000500" cy="40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200">
                  <a:solidFill>
                    <a:srgbClr val="10B98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0</a:t>
              </a:r>
              <a:r>
                <a:rPr lang="en-US" sz="4200">
                  <a:solidFill>
                    <a:srgbClr val="10B98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5</a:t>
              </a:r>
              <a:endParaRPr b="0" sz="4200">
                <a:solidFill>
                  <a:srgbClr val="10B98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git pull</a:t>
              </a:r>
              <a:endPara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34D399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git pull</a:t>
              </a:r>
              <a:endParaRPr b="1" sz="1300">
                <a:solidFill>
                  <a:srgbClr val="34D399"/>
                </a:solidFill>
                <a:highlight>
                  <a:srgbClr val="0F172A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Sincroniza seu repositório local com as alterações mais recentes do remoto. Ele combina o </a:t>
              </a:r>
              <a:r>
                <a:rPr b="1"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fetch</a:t>
              </a:r>
              <a:r>
                <a:rPr b="0"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(baixar) e o </a:t>
              </a:r>
              <a:r>
                <a:rPr b="1"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merge</a:t>
              </a:r>
              <a:r>
                <a:rPr b="0"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(integrar).</a:t>
              </a:r>
              <a:endParaRPr b="0"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750"/>
                </a:spcAft>
                <a:buNone/>
              </a:pPr>
              <a:r>
                <a:rPr b="0"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Se preferir apenas buscar os metadados do que há de novo sem misturar ao seu código, use </a:t>
              </a:r>
              <a:r>
                <a:rPr b="1"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git fetch</a:t>
              </a:r>
              <a:r>
                <a:rPr b="0"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1" name="Google Shape;211;p21"/>
          <p:cNvGrpSpPr/>
          <p:nvPr/>
        </p:nvGrpSpPr>
        <p:grpSpPr>
          <a:xfrm>
            <a:off x="10829925" y="2047875"/>
            <a:ext cx="4667400" cy="4667400"/>
            <a:chOff x="10829925" y="2047875"/>
            <a:chExt cx="4667400" cy="4667400"/>
          </a:xfrm>
        </p:grpSpPr>
        <p:sp>
          <p:nvSpPr>
            <p:cNvPr id="212" name="Google Shape;212;p21"/>
            <p:cNvSpPr/>
            <p:nvPr/>
          </p:nvSpPr>
          <p:spPr>
            <a:xfrm>
              <a:off x="10829925" y="2047875"/>
              <a:ext cx="4667400" cy="4667400"/>
            </a:xfrm>
            <a:prstGeom prst="roundRect">
              <a:avLst>
                <a:gd fmla="val 3265" name="adj"/>
              </a:avLst>
            </a:prstGeom>
            <a:solidFill>
              <a:srgbClr val="1E293B">
                <a:alpha val="6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1"/>
            <p:cNvSpPr txBox="1"/>
            <p:nvPr/>
          </p:nvSpPr>
          <p:spPr>
            <a:xfrm>
              <a:off x="11163300" y="2333625"/>
              <a:ext cx="4000500" cy="40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200">
                  <a:solidFill>
                    <a:srgbClr val="10B98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0</a:t>
              </a:r>
              <a:r>
                <a:rPr lang="en-US" sz="4200">
                  <a:solidFill>
                    <a:srgbClr val="10B98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6</a:t>
              </a:r>
              <a:endParaRPr b="0" sz="4200">
                <a:solidFill>
                  <a:srgbClr val="10B98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git clone</a:t>
              </a:r>
              <a:endPara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34D399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git clone [url]</a:t>
              </a:r>
              <a:endParaRPr b="1" sz="1300">
                <a:solidFill>
                  <a:srgbClr val="34D399"/>
                </a:solidFill>
                <a:highlight>
                  <a:srgbClr val="0F172A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Cria uma cópia idêntica e local de um repositório remoto para que você possa iniciar um projeto existente do zero.</a:t>
              </a:r>
              <a:endParaRPr b="0"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750"/>
                </a:spcAft>
                <a:buNone/>
              </a:pPr>
              <a:r>
                <a:rPr b="0"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Adicione </a:t>
              </a:r>
              <a:r>
                <a:rPr b="1"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--depth 1</a:t>
              </a:r>
              <a:r>
                <a:rPr b="0"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ao comando para baixar apenas o histórico do último commit, acelerando o clone.</a:t>
              </a:r>
              <a:endParaRPr b="0"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4" name="Google Shape;214;p21"/>
          <p:cNvGrpSpPr/>
          <p:nvPr/>
        </p:nvGrpSpPr>
        <p:grpSpPr>
          <a:xfrm>
            <a:off x="762000" y="7000875"/>
            <a:ext cx="14735100" cy="857400"/>
            <a:chOff x="762000" y="7000875"/>
            <a:chExt cx="14735100" cy="857400"/>
          </a:xfrm>
        </p:grpSpPr>
        <p:sp>
          <p:nvSpPr>
            <p:cNvPr id="215" name="Google Shape;215;p21"/>
            <p:cNvSpPr/>
            <p:nvPr/>
          </p:nvSpPr>
          <p:spPr>
            <a:xfrm>
              <a:off x="762000" y="7000875"/>
              <a:ext cx="14735100" cy="857400"/>
            </a:xfrm>
            <a:prstGeom prst="roundRect">
              <a:avLst>
                <a:gd fmla="val 13333" name="adj"/>
              </a:avLst>
            </a:prstGeom>
            <a:solidFill>
              <a:srgbClr val="0F172A">
                <a:alpha val="80000"/>
              </a:srgbClr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1"/>
            <p:cNvSpPr txBox="1"/>
            <p:nvPr/>
          </p:nvSpPr>
          <p:spPr>
            <a:xfrm>
              <a:off x="1143000" y="7143750"/>
              <a:ext cx="139731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750"/>
                </a:spcAft>
                <a:buNone/>
              </a:pPr>
              <a:r>
                <a:rPr b="0" lang="en-US" sz="115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💡 </a:t>
              </a:r>
              <a:r>
                <a:rPr b="1" lang="en-US" sz="12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Dica de Fluxo:</a:t>
              </a:r>
              <a:r>
                <a:rPr b="0" lang="en-US" sz="115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 Pense no fluxo remoto como uma viagem. Com o </a:t>
              </a:r>
              <a:r>
                <a:rPr b="1" lang="en-US" sz="11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git clone</a:t>
              </a:r>
              <a:r>
                <a:rPr b="0" lang="en-US" sz="115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 você compra a passagem. Com o </a:t>
              </a:r>
              <a:r>
                <a:rPr b="1" lang="en-US" sz="11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git pull</a:t>
              </a:r>
              <a:r>
                <a:rPr b="0" lang="en-US" sz="115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 você desembarca as novidades que aconteceram no seu destino. E com o </a:t>
              </a:r>
              <a:r>
                <a:rPr b="1" lang="en-US" sz="11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git push</a:t>
              </a:r>
              <a:r>
                <a:rPr b="0" lang="en-US" sz="115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 você finalmente envia suas malas para a nuvem!</a:t>
              </a:r>
              <a:endParaRPr b="0" sz="11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2"/>
          <p:cNvSpPr/>
          <p:nvPr/>
        </p:nvSpPr>
        <p:spPr>
          <a:xfrm>
            <a:off x="0" y="0"/>
            <a:ext cx="16259100" cy="9144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2" name="Google Shape;222;p22"/>
          <p:cNvGrpSpPr/>
          <p:nvPr/>
        </p:nvGrpSpPr>
        <p:grpSpPr>
          <a:xfrm>
            <a:off x="762000" y="523875"/>
            <a:ext cx="14735100" cy="1238250"/>
            <a:chOff x="762000" y="523875"/>
            <a:chExt cx="14735100" cy="1238250"/>
          </a:xfrm>
        </p:grpSpPr>
        <p:sp>
          <p:nvSpPr>
            <p:cNvPr id="223" name="Google Shape;223;p22"/>
            <p:cNvSpPr txBox="1"/>
            <p:nvPr/>
          </p:nvSpPr>
          <p:spPr>
            <a:xfrm>
              <a:off x="762000" y="523875"/>
              <a:ext cx="14735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MÓDULO 1: O MESTRE DO TEMPO (GIT)</a:t>
              </a:r>
              <a:endParaRPr b="1" sz="12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24" name="Google Shape;224;p22"/>
            <p:cNvSpPr txBox="1"/>
            <p:nvPr/>
          </p:nvSpPr>
          <p:spPr>
            <a:xfrm>
              <a:off x="762000" y="809625"/>
              <a:ext cx="147351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51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Configuração de Identidade Global</a:t>
              </a:r>
              <a:endParaRPr b="1" sz="351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22"/>
            <p:cNvSpPr txBox="1"/>
            <p:nvPr/>
          </p:nvSpPr>
          <p:spPr>
            <a:xfrm>
              <a:off x="762000" y="1381125"/>
              <a:ext cx="14735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Antes de iniciar seus commits, configure sua assinatura de autor de forma simples e rápida no terminal.</a:t>
              </a:r>
              <a:endParaRPr b="0" sz="15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6" name="Google Shape;226;p22"/>
          <p:cNvGrpSpPr/>
          <p:nvPr/>
        </p:nvGrpSpPr>
        <p:grpSpPr>
          <a:xfrm>
            <a:off x="762000" y="2047875"/>
            <a:ext cx="4667400" cy="4667400"/>
            <a:chOff x="762000" y="2047875"/>
            <a:chExt cx="4667400" cy="4667400"/>
          </a:xfrm>
        </p:grpSpPr>
        <p:sp>
          <p:nvSpPr>
            <p:cNvPr id="227" name="Google Shape;227;p22"/>
            <p:cNvSpPr/>
            <p:nvPr/>
          </p:nvSpPr>
          <p:spPr>
            <a:xfrm>
              <a:off x="762000" y="2047875"/>
              <a:ext cx="4667400" cy="4667400"/>
            </a:xfrm>
            <a:prstGeom prst="roundRect">
              <a:avLst>
                <a:gd fmla="val 3265" name="adj"/>
              </a:avLst>
            </a:prstGeom>
            <a:solidFill>
              <a:srgbClr val="1E293B">
                <a:alpha val="6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2"/>
            <p:cNvSpPr txBox="1"/>
            <p:nvPr/>
          </p:nvSpPr>
          <p:spPr>
            <a:xfrm>
              <a:off x="1095375" y="2333625"/>
              <a:ext cx="4000500" cy="40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200">
                  <a:solidFill>
                    <a:srgbClr val="10B98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0</a:t>
              </a:r>
              <a:r>
                <a:rPr lang="en-US" sz="4200">
                  <a:solidFill>
                    <a:srgbClr val="10B98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7</a:t>
              </a:r>
              <a:endParaRPr b="0" sz="4200">
                <a:solidFill>
                  <a:srgbClr val="10B98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Definir Usuário</a:t>
              </a:r>
              <a:endPara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34D399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git config --global user.name "Seu Nome"</a:t>
              </a:r>
              <a:endParaRPr b="1" sz="1300">
                <a:solidFill>
                  <a:srgbClr val="34D399"/>
                </a:solidFill>
                <a:highlight>
                  <a:srgbClr val="0F172A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Configura o seu nome de usuário para todos os repositórios locais do seu computador.</a:t>
              </a:r>
              <a:endParaRPr b="0"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750"/>
                </a:spcAft>
                <a:buNone/>
              </a:pPr>
              <a:r>
                <a:rPr b="0" lang="en-US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Substitua "Seu Nome" pelo seu nome real ou ID do GitHub.</a:t>
              </a:r>
              <a:endParaRPr b="0"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9" name="Google Shape;229;p22"/>
          <p:cNvGrpSpPr/>
          <p:nvPr/>
        </p:nvGrpSpPr>
        <p:grpSpPr>
          <a:xfrm>
            <a:off x="5791200" y="2047875"/>
            <a:ext cx="4667400" cy="4667400"/>
            <a:chOff x="5791200" y="2047875"/>
            <a:chExt cx="4667400" cy="4667400"/>
          </a:xfrm>
        </p:grpSpPr>
        <p:sp>
          <p:nvSpPr>
            <p:cNvPr id="230" name="Google Shape;230;p22"/>
            <p:cNvSpPr/>
            <p:nvPr/>
          </p:nvSpPr>
          <p:spPr>
            <a:xfrm>
              <a:off x="5791200" y="2047875"/>
              <a:ext cx="4667400" cy="4667400"/>
            </a:xfrm>
            <a:prstGeom prst="roundRect">
              <a:avLst>
                <a:gd fmla="val 3265" name="adj"/>
              </a:avLst>
            </a:prstGeom>
            <a:solidFill>
              <a:srgbClr val="1E293B">
                <a:alpha val="6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2"/>
            <p:cNvSpPr txBox="1"/>
            <p:nvPr/>
          </p:nvSpPr>
          <p:spPr>
            <a:xfrm>
              <a:off x="6124575" y="2333625"/>
              <a:ext cx="4000500" cy="40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200">
                  <a:solidFill>
                    <a:srgbClr val="10B98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0</a:t>
              </a:r>
              <a:r>
                <a:rPr lang="en-US" sz="4200">
                  <a:solidFill>
                    <a:srgbClr val="10B98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8</a:t>
              </a:r>
              <a:endParaRPr b="0" sz="4200">
                <a:solidFill>
                  <a:srgbClr val="10B98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Definir E-mail</a:t>
              </a:r>
              <a:endPara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34D399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git config --global user.email "email@exemplo.com"</a:t>
              </a:r>
              <a:endParaRPr b="1" sz="1300">
                <a:solidFill>
                  <a:srgbClr val="34D399"/>
                </a:solidFill>
                <a:highlight>
                  <a:srgbClr val="0F172A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O Git necessita obrigatoriamente de um e-mail válido para rastrear a autoria dos seus registros (commits).</a:t>
              </a:r>
              <a:endParaRPr b="0"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750"/>
                </a:spcAft>
                <a:buNone/>
              </a:pPr>
              <a:r>
                <a:rPr b="0" lang="en-US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Dica: Use o mesmo e-mail cadastrado na sua conta do GitHub.</a:t>
              </a:r>
              <a:endParaRPr b="0"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2" name="Google Shape;232;p22"/>
          <p:cNvGrpSpPr/>
          <p:nvPr/>
        </p:nvGrpSpPr>
        <p:grpSpPr>
          <a:xfrm>
            <a:off x="10829925" y="2047875"/>
            <a:ext cx="4667400" cy="4667400"/>
            <a:chOff x="10829925" y="2047875"/>
            <a:chExt cx="4667400" cy="4667400"/>
          </a:xfrm>
        </p:grpSpPr>
        <p:sp>
          <p:nvSpPr>
            <p:cNvPr id="233" name="Google Shape;233;p22"/>
            <p:cNvSpPr/>
            <p:nvPr/>
          </p:nvSpPr>
          <p:spPr>
            <a:xfrm>
              <a:off x="10829925" y="2047875"/>
              <a:ext cx="4667400" cy="4667400"/>
            </a:xfrm>
            <a:prstGeom prst="roundRect">
              <a:avLst>
                <a:gd fmla="val 3265" name="adj"/>
              </a:avLst>
            </a:prstGeom>
            <a:solidFill>
              <a:srgbClr val="1E293B">
                <a:alpha val="6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2"/>
            <p:cNvSpPr txBox="1"/>
            <p:nvPr/>
          </p:nvSpPr>
          <p:spPr>
            <a:xfrm>
              <a:off x="11163300" y="2333625"/>
              <a:ext cx="4000500" cy="40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200">
                  <a:solidFill>
                    <a:srgbClr val="10B98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0</a:t>
              </a:r>
              <a:r>
                <a:rPr lang="en-US" sz="4200">
                  <a:solidFill>
                    <a:srgbClr val="10B98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9</a:t>
              </a:r>
              <a:endParaRPr b="0" sz="4200">
                <a:solidFill>
                  <a:srgbClr val="10B98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Verificar &amp; Alterar</a:t>
              </a:r>
              <a:endPara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34D399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git config --global user.name</a:t>
              </a:r>
              <a:endParaRPr b="1" sz="1300">
                <a:solidFill>
                  <a:srgbClr val="34D399"/>
                </a:solidFill>
                <a:highlight>
                  <a:srgbClr val="0F172A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Execute o comando acima para visualizar seu usuário atual ativo no sistema.</a:t>
              </a:r>
              <a:endParaRPr b="0"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750"/>
                </a:spcAft>
                <a:buNone/>
              </a:pPr>
              <a:r>
                <a:rPr b="0" lang="en-US" sz="115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Para mudar a identidade em um projeto específico, remova a tag </a:t>
              </a:r>
              <a:r>
                <a:rPr b="1" lang="en-US" sz="1150">
                  <a:solidFill>
                    <a:srgbClr val="34D399"/>
                  </a:solidFill>
                  <a:highlight>
                    <a:srgbClr val="1E293B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--global</a:t>
              </a:r>
              <a:r>
                <a:rPr b="0" lang="en-US" sz="115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de dentro do repositório.</a:t>
              </a:r>
              <a:endParaRPr b="0" sz="115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5" name="Google Shape;235;p22"/>
          <p:cNvGrpSpPr/>
          <p:nvPr/>
        </p:nvGrpSpPr>
        <p:grpSpPr>
          <a:xfrm>
            <a:off x="762000" y="7000875"/>
            <a:ext cx="14735100" cy="857400"/>
            <a:chOff x="762000" y="7000875"/>
            <a:chExt cx="14735100" cy="857400"/>
          </a:xfrm>
        </p:grpSpPr>
        <p:sp>
          <p:nvSpPr>
            <p:cNvPr id="236" name="Google Shape;236;p22"/>
            <p:cNvSpPr/>
            <p:nvPr/>
          </p:nvSpPr>
          <p:spPr>
            <a:xfrm>
              <a:off x="762000" y="7000875"/>
              <a:ext cx="14735100" cy="857400"/>
            </a:xfrm>
            <a:prstGeom prst="roundRect">
              <a:avLst>
                <a:gd fmla="val 13330" name="adj"/>
              </a:avLst>
            </a:prstGeom>
            <a:solidFill>
              <a:srgbClr val="0F172A">
                <a:alpha val="80000"/>
              </a:srgbClr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2"/>
            <p:cNvSpPr txBox="1"/>
            <p:nvPr/>
          </p:nvSpPr>
          <p:spPr>
            <a:xfrm>
              <a:off x="1143000" y="7143750"/>
              <a:ext cx="139731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⚙️ </a:t>
              </a:r>
              <a:r>
                <a:rPr b="1" lang="en-US" sz="115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Dica Importante:</a:t>
              </a:r>
              <a:r>
                <a:rPr b="0" lang="en-US" sz="115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 O uso do parâmetro </a:t>
              </a:r>
              <a:r>
                <a:rPr b="1" lang="en-US" sz="1150">
                  <a:solidFill>
                    <a:srgbClr val="34D399"/>
                  </a:solidFill>
                  <a:highlight>
                    <a:srgbClr val="1E293B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--global</a:t>
              </a:r>
              <a:r>
                <a:rPr b="0" lang="en-US" sz="115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 realiza uma configuração única para a sua máquina. Se precisar utilizar credenciais corporativas separadas, configure localmente usando </a:t>
              </a:r>
              <a:r>
                <a:rPr b="1" lang="en-US" sz="1150">
                  <a:solidFill>
                    <a:srgbClr val="34D399"/>
                  </a:solidFill>
                  <a:highlight>
                    <a:srgbClr val="1E293B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git config user.email "email@empresa.com"</a:t>
              </a:r>
              <a:r>
                <a:rPr b="0" lang="en-US" sz="115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sz="11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" name="Google Shape;242;p23"/>
          <p:cNvGrpSpPr/>
          <p:nvPr/>
        </p:nvGrpSpPr>
        <p:grpSpPr>
          <a:xfrm>
            <a:off x="762000" y="523875"/>
            <a:ext cx="14735100" cy="1428750"/>
            <a:chOff x="762000" y="523875"/>
            <a:chExt cx="14735100" cy="1428750"/>
          </a:xfrm>
        </p:grpSpPr>
        <p:sp>
          <p:nvSpPr>
            <p:cNvPr id="243" name="Google Shape;243;p23"/>
            <p:cNvSpPr txBox="1"/>
            <p:nvPr/>
          </p:nvSpPr>
          <p:spPr>
            <a:xfrm>
              <a:off x="762000" y="523875"/>
              <a:ext cx="14735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MÓDULO 2: A PRAÇA PÚBLICA (GITHUB)</a:t>
              </a:r>
              <a:endParaRPr b="1" sz="12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44" name="Google Shape;244;p23"/>
            <p:cNvSpPr txBox="1"/>
            <p:nvPr/>
          </p:nvSpPr>
          <p:spPr>
            <a:xfrm>
              <a:off x="762000" y="857250"/>
              <a:ext cx="147351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 que é o GitHub?</a:t>
              </a:r>
              <a:endParaRPr b="1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23"/>
            <p:cNvSpPr txBox="1"/>
            <p:nvPr/>
          </p:nvSpPr>
          <p:spPr>
            <a:xfrm>
              <a:off x="762000" y="1571625"/>
              <a:ext cx="14735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A0AEC0"/>
                  </a:solidFill>
                  <a:latin typeface="Arial"/>
                  <a:ea typeface="Arial"/>
                  <a:cs typeface="Arial"/>
                  <a:sym typeface="Arial"/>
                </a:rPr>
                <a:t>A plataforma global de hospedagem e colaboração que conecta milhões de desenvolvedores e seus códigos.</a:t>
              </a:r>
              <a:endParaRPr b="0" sz="160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6" name="Google Shape;246;p23"/>
          <p:cNvGrpSpPr/>
          <p:nvPr/>
        </p:nvGrpSpPr>
        <p:grpSpPr>
          <a:xfrm>
            <a:off x="752475" y="2276475"/>
            <a:ext cx="4591200" cy="4305300"/>
            <a:chOff x="752475" y="2276475"/>
            <a:chExt cx="4591200" cy="4305300"/>
          </a:xfrm>
        </p:grpSpPr>
        <p:pic>
          <p:nvPicPr>
            <p:cNvPr id="247" name="Google Shape;247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52475" y="2276475"/>
              <a:ext cx="4591200" cy="4305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3"/>
            <p:cNvSpPr txBox="1"/>
            <p:nvPr/>
          </p:nvSpPr>
          <p:spPr>
            <a:xfrm>
              <a:off x="1143000" y="2667000"/>
              <a:ext cx="3810000" cy="35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Hospedagem na Nuvem</a:t>
              </a:r>
              <a:endParaRPr b="1" sz="180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CBD5E0"/>
                  </a:solidFill>
                  <a:latin typeface="Arial"/>
                  <a:ea typeface="Arial"/>
                  <a:cs typeface="Arial"/>
                  <a:sym typeface="Arial"/>
                </a:rPr>
                <a:t>O GitHub funciona como o </a:t>
              </a:r>
              <a:r>
                <a:rPr b="1" lang="en-US" sz="13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lar seguro</a:t>
              </a:r>
              <a:r>
                <a:rPr b="0" lang="en-US" sz="1300">
                  <a:solidFill>
                    <a:srgbClr val="CBD5E0"/>
                  </a:solidFill>
                  <a:latin typeface="Arial"/>
                  <a:ea typeface="Arial"/>
                  <a:cs typeface="Arial"/>
                  <a:sym typeface="Arial"/>
                </a:rPr>
                <a:t> para os seus repositórios Git na internet.</a:t>
              </a:r>
              <a:endParaRPr b="0" sz="1300">
                <a:solidFill>
                  <a:srgbClr val="CBD5E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CBD5E0"/>
                  </a:solidFill>
                  <a:latin typeface="Arial"/>
                  <a:ea typeface="Arial"/>
                  <a:cs typeface="Arial"/>
                  <a:sym typeface="Arial"/>
                </a:rPr>
                <a:t>Ele permite salvar seu trabalho remotamente, garantindo que você nunca perca seu histórico de alterações e facilitando o acesso ao seu código a partir de qualquer dispositivo conectado.</a:t>
              </a:r>
              <a:endParaRPr b="0" sz="1300">
                <a:solidFill>
                  <a:srgbClr val="CBD5E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9" name="Google Shape;249;p23"/>
          <p:cNvGrpSpPr/>
          <p:nvPr/>
        </p:nvGrpSpPr>
        <p:grpSpPr>
          <a:xfrm>
            <a:off x="5610225" y="2276475"/>
            <a:ext cx="4591200" cy="4305300"/>
            <a:chOff x="5610225" y="2276475"/>
            <a:chExt cx="4591200" cy="4305300"/>
          </a:xfrm>
        </p:grpSpPr>
        <p:pic>
          <p:nvPicPr>
            <p:cNvPr id="250" name="Google Shape;250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610225" y="2276475"/>
              <a:ext cx="4591200" cy="4305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1" name="Google Shape;251;p23"/>
            <p:cNvSpPr txBox="1"/>
            <p:nvPr/>
          </p:nvSpPr>
          <p:spPr>
            <a:xfrm>
              <a:off x="6000750" y="2667000"/>
              <a:ext cx="3810000" cy="35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Colaboração Global</a:t>
              </a:r>
              <a:endParaRPr b="1" sz="180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CBD5E0"/>
                  </a:solidFill>
                  <a:latin typeface="Arial"/>
                  <a:ea typeface="Arial"/>
                  <a:cs typeface="Arial"/>
                  <a:sym typeface="Arial"/>
                </a:rPr>
                <a:t>Muito mais do que apenas armazenamento, o GitHub é uma rede social para programadores:</a:t>
              </a:r>
              <a:endParaRPr b="0" sz="1300">
                <a:solidFill>
                  <a:srgbClr val="CBD5E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CBD5E0"/>
                </a:buClr>
                <a:buSzPts val="1300"/>
                <a:buFont typeface="Arial"/>
                <a:buChar char="●"/>
              </a:pPr>
              <a:r>
                <a:rPr b="1" lang="en-US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Pull Requests:</a:t>
              </a:r>
              <a:r>
                <a:rPr b="0" lang="en-US" sz="1300">
                  <a:solidFill>
                    <a:srgbClr val="CBD5E0"/>
                  </a:solidFill>
                  <a:latin typeface="Arial"/>
                  <a:ea typeface="Arial"/>
                  <a:cs typeface="Arial"/>
                  <a:sym typeface="Arial"/>
                </a:rPr>
                <a:t> Proponha melhorias em projetos de outras pessoas de forma organizada.</a:t>
              </a:r>
              <a:endParaRPr b="0" sz="1300">
                <a:solidFill>
                  <a:srgbClr val="CBD5E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rtl="0" algn="l">
                <a:spcBef>
                  <a:spcPts val="750"/>
                </a:spcBef>
                <a:spcAft>
                  <a:spcPts val="750"/>
                </a:spcAft>
                <a:buClr>
                  <a:srgbClr val="CBD5E0"/>
                </a:buClr>
                <a:buSzPts val="1300"/>
                <a:buFont typeface="Arial"/>
                <a:buChar char="●"/>
              </a:pPr>
              <a:r>
                <a:rPr b="1" lang="en-US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Code Review:</a:t>
              </a:r>
              <a:r>
                <a:rPr b="0" lang="en-US" sz="1300">
                  <a:solidFill>
                    <a:srgbClr val="CBD5E0"/>
                  </a:solidFill>
                  <a:latin typeface="Arial"/>
                  <a:ea typeface="Arial"/>
                  <a:cs typeface="Arial"/>
                  <a:sym typeface="Arial"/>
                </a:rPr>
                <a:t> Discuta e analise linhas de código antes de mesclá-las ao projeto principal.</a:t>
              </a:r>
              <a:endParaRPr b="0" sz="1300">
                <a:solidFill>
                  <a:srgbClr val="CBD5E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2" name="Google Shape;252;p23"/>
          <p:cNvGrpSpPr/>
          <p:nvPr/>
        </p:nvGrpSpPr>
        <p:grpSpPr>
          <a:xfrm>
            <a:off x="10467975" y="2276475"/>
            <a:ext cx="5038800" cy="4305300"/>
            <a:chOff x="10467975" y="2276475"/>
            <a:chExt cx="5038800" cy="4305300"/>
          </a:xfrm>
        </p:grpSpPr>
        <p:pic>
          <p:nvPicPr>
            <p:cNvPr id="253" name="Google Shape;253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467975" y="2276475"/>
              <a:ext cx="5038800" cy="4305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high-tech, glowing concept illustration of global digital collaboration network, connecting code repositories, dark background, 3d render, vibrant green accents." id="254" name="Google Shape;254;p2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858500" y="2571750"/>
              <a:ext cx="2381400" cy="23814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255" name="Google Shape;255;p23"/>
            <p:cNvSpPr/>
            <p:nvPr/>
          </p:nvSpPr>
          <p:spPr>
            <a:xfrm>
              <a:off x="10858500" y="2571750"/>
              <a:ext cx="2381400" cy="2381400"/>
            </a:xfrm>
            <a:prstGeom prst="roundRect">
              <a:avLst>
                <a:gd fmla="val 50000" name="adj"/>
              </a:avLst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3"/>
            <p:cNvSpPr txBox="1"/>
            <p:nvPr/>
          </p:nvSpPr>
          <p:spPr>
            <a:xfrm>
              <a:off x="13430250" y="2571750"/>
              <a:ext cx="18096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Conectividade</a:t>
              </a:r>
              <a:endParaRPr b="1" sz="180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CBD5E0"/>
                  </a:solidFill>
                  <a:latin typeface="Arial"/>
                  <a:ea typeface="Arial"/>
                  <a:cs typeface="Arial"/>
                  <a:sym typeface="Arial"/>
                </a:rPr>
                <a:t>O centro nervoso do ecossistema open-source onde grandes projetos como Linux, Python e o próprio Git são mantidos coletivamente.</a:t>
              </a:r>
              <a:endParaRPr b="0" sz="1100">
                <a:solidFill>
                  <a:srgbClr val="CBD5E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23"/>
            <p:cNvSpPr txBox="1"/>
            <p:nvPr/>
          </p:nvSpPr>
          <p:spPr>
            <a:xfrm>
              <a:off x="10858500" y="5143500"/>
              <a:ext cx="42576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300">
                  <a:solidFill>
                    <a:srgbClr val="CBD5E0"/>
                  </a:solidFill>
                  <a:latin typeface="Georgia"/>
                  <a:ea typeface="Georgia"/>
                  <a:cs typeface="Georgia"/>
                  <a:sym typeface="Georgia"/>
                </a:rPr>
                <a:t>"Se o Git é o motor local do seu projeto, o GitHub é a rodovia internacional que conecta você ao resto do mundo."</a:t>
              </a:r>
              <a:endParaRPr b="0" i="1" sz="1300">
                <a:solidFill>
                  <a:srgbClr val="CBD5E0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i="0" lang="en-US" sz="1200">
                  <a:solidFill>
                    <a:srgbClr val="A0AEC0"/>
                  </a:solidFill>
                  <a:latin typeface="Arial"/>
                  <a:ea typeface="Arial"/>
                  <a:cs typeface="Arial"/>
                  <a:sym typeface="Arial"/>
                </a:rPr>
                <a:t>— Filosofia da Comunidade Dev</a:t>
              </a:r>
              <a:endParaRPr b="1" i="0" sz="120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8" name="Google Shape;258;p23"/>
          <p:cNvGrpSpPr/>
          <p:nvPr/>
        </p:nvGrpSpPr>
        <p:grpSpPr>
          <a:xfrm>
            <a:off x="762000" y="6953250"/>
            <a:ext cx="14735100" cy="1047900"/>
            <a:chOff x="762000" y="6953250"/>
            <a:chExt cx="14735100" cy="1047900"/>
          </a:xfrm>
        </p:grpSpPr>
        <p:sp>
          <p:nvSpPr>
            <p:cNvPr id="259" name="Google Shape;259;p23"/>
            <p:cNvSpPr/>
            <p:nvPr/>
          </p:nvSpPr>
          <p:spPr>
            <a:xfrm>
              <a:off x="762000" y="6953250"/>
              <a:ext cx="14735100" cy="1047900"/>
            </a:xfrm>
            <a:prstGeom prst="roundRect">
              <a:avLst>
                <a:gd fmla="val 14545" name="adj"/>
              </a:avLst>
            </a:prstGeom>
            <a:solidFill>
              <a:srgbClr val="2D3748">
                <a:alpha val="30000"/>
              </a:srgbClr>
            </a:solidFill>
            <a:ln cap="flat" cmpd="sng" w="9525">
              <a:solidFill>
                <a:srgbClr val="4A556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3"/>
            <p:cNvSpPr txBox="1"/>
            <p:nvPr/>
          </p:nvSpPr>
          <p:spPr>
            <a:xfrm>
              <a:off x="1143000" y="7143750"/>
              <a:ext cx="139731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CBD5E0"/>
                  </a:solidFill>
                  <a:latin typeface="Arial"/>
                  <a:ea typeface="Arial"/>
                  <a:cs typeface="Arial"/>
                  <a:sym typeface="Arial"/>
                </a:rPr>
                <a:t>💡 </a:t>
              </a:r>
              <a:r>
                <a:rPr b="1" lang="en-US" sz="14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Resumo do Impacto:</a:t>
              </a:r>
              <a:r>
                <a:rPr b="0" lang="en-US" sz="1400">
                  <a:solidFill>
                    <a:srgbClr val="CBD5E0"/>
                  </a:solidFill>
                  <a:latin typeface="Arial"/>
                  <a:ea typeface="Arial"/>
                  <a:cs typeface="Arial"/>
                  <a:sym typeface="Arial"/>
                </a:rPr>
                <a:t> O Git descentralizou o desenvolvimento de software, mas o GitHub centralizou a colaboração. Juntos, eles criaram a maior biblioteca de conhecimento computacional e humano que o mundo já viu.</a:t>
              </a:r>
              <a:endParaRPr b="0" sz="1400">
                <a:solidFill>
                  <a:srgbClr val="CBD5E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259100" cy="914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6259100" cy="914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7" name="Google Shape;267;p24"/>
          <p:cNvGrpSpPr/>
          <p:nvPr/>
        </p:nvGrpSpPr>
        <p:grpSpPr>
          <a:xfrm>
            <a:off x="762000" y="331025"/>
            <a:ext cx="14735100" cy="1431100"/>
            <a:chOff x="762000" y="331025"/>
            <a:chExt cx="14735100" cy="1431100"/>
          </a:xfrm>
        </p:grpSpPr>
        <p:sp>
          <p:nvSpPr>
            <p:cNvPr id="268" name="Google Shape;268;p24"/>
            <p:cNvSpPr txBox="1"/>
            <p:nvPr/>
          </p:nvSpPr>
          <p:spPr>
            <a:xfrm>
              <a:off x="762000" y="331025"/>
              <a:ext cx="14735100" cy="47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MÓDULO 2: A PRAÇA PÚBLICA (GITHUB)</a:t>
              </a:r>
              <a:endParaRPr b="1" sz="12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69" name="Google Shape;269;p24"/>
            <p:cNvSpPr txBox="1"/>
            <p:nvPr/>
          </p:nvSpPr>
          <p:spPr>
            <a:xfrm>
              <a:off x="762000" y="809625"/>
              <a:ext cx="147351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Criando sua Conta no GitHub</a:t>
              </a:r>
              <a:endParaRPr b="1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24"/>
            <p:cNvSpPr txBox="1"/>
            <p:nvPr/>
          </p:nvSpPr>
          <p:spPr>
            <a:xfrm>
              <a:off x="762000" y="1381125"/>
              <a:ext cx="14735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Sua identidade de desenvolvedor começa aqui. Siga os passos para se conectar à maior plataforma de hospedagem de código do mundo.</a:t>
              </a:r>
              <a:endParaRPr b="0" sz="15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1" name="Google Shape;271;p24"/>
          <p:cNvGrpSpPr/>
          <p:nvPr/>
        </p:nvGrpSpPr>
        <p:grpSpPr>
          <a:xfrm>
            <a:off x="762000" y="2047875"/>
            <a:ext cx="4667400" cy="4667400"/>
            <a:chOff x="762000" y="2047875"/>
            <a:chExt cx="4667400" cy="4667400"/>
          </a:xfrm>
        </p:grpSpPr>
        <p:sp>
          <p:nvSpPr>
            <p:cNvPr id="272" name="Google Shape;272;p24"/>
            <p:cNvSpPr/>
            <p:nvPr/>
          </p:nvSpPr>
          <p:spPr>
            <a:xfrm>
              <a:off x="762000" y="2047875"/>
              <a:ext cx="4667400" cy="4667400"/>
            </a:xfrm>
            <a:prstGeom prst="roundRect">
              <a:avLst>
                <a:gd fmla="val 3265" name="adj"/>
              </a:avLst>
            </a:prstGeom>
            <a:solidFill>
              <a:srgbClr val="1E293B">
                <a:alpha val="6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4"/>
            <p:cNvSpPr txBox="1"/>
            <p:nvPr/>
          </p:nvSpPr>
          <p:spPr>
            <a:xfrm>
              <a:off x="1095375" y="2333625"/>
              <a:ext cx="4000500" cy="40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200">
                  <a:solidFill>
                    <a:srgbClr val="10B98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01</a:t>
              </a:r>
              <a:endParaRPr b="0" sz="4200">
                <a:solidFill>
                  <a:srgbClr val="10B98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Acesse o Portal</a:t>
              </a:r>
              <a:endPara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Vá para o site oficial em </a:t>
              </a:r>
              <a:r>
                <a:rPr b="1" lang="en-US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github.com</a:t>
              </a:r>
              <a:r>
                <a:rPr b="0"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no seu navegador de preferência.</a:t>
              </a:r>
              <a:endParaRPr b="0"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Clique no botão de destaque </a:t>
              </a:r>
              <a:r>
                <a:rPr b="1" lang="en-US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"Sign up"</a:t>
              </a:r>
              <a:r>
                <a:rPr b="0"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localizado no canto superior direito para iniciar a sua jornada.</a:t>
              </a:r>
              <a:endParaRPr b="0"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4" name="Google Shape;274;p24"/>
          <p:cNvGrpSpPr/>
          <p:nvPr/>
        </p:nvGrpSpPr>
        <p:grpSpPr>
          <a:xfrm>
            <a:off x="5791200" y="2047875"/>
            <a:ext cx="4667400" cy="4667400"/>
            <a:chOff x="5791200" y="2047875"/>
            <a:chExt cx="4667400" cy="4667400"/>
          </a:xfrm>
        </p:grpSpPr>
        <p:sp>
          <p:nvSpPr>
            <p:cNvPr id="275" name="Google Shape;275;p24"/>
            <p:cNvSpPr/>
            <p:nvPr/>
          </p:nvSpPr>
          <p:spPr>
            <a:xfrm>
              <a:off x="5791200" y="2047875"/>
              <a:ext cx="4667400" cy="4667400"/>
            </a:xfrm>
            <a:prstGeom prst="roundRect">
              <a:avLst>
                <a:gd fmla="val 3265" name="adj"/>
              </a:avLst>
            </a:prstGeom>
            <a:solidFill>
              <a:srgbClr val="1E293B">
                <a:alpha val="6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4"/>
            <p:cNvSpPr txBox="1"/>
            <p:nvPr/>
          </p:nvSpPr>
          <p:spPr>
            <a:xfrm>
              <a:off x="6124575" y="2333625"/>
              <a:ext cx="4000500" cy="40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200">
                  <a:solidFill>
                    <a:srgbClr val="10B98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02</a:t>
              </a:r>
              <a:endParaRPr b="0" sz="4200">
                <a:solidFill>
                  <a:srgbClr val="10B98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Insira suas Credenciais</a:t>
              </a:r>
              <a:endPara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Uma interface interativa simulará um terminal pedindo seu </a:t>
              </a:r>
              <a:r>
                <a:rPr b="1" lang="en-US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e-mail</a:t>
              </a:r>
              <a:r>
                <a:rPr b="0"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, criação de uma </a:t>
              </a:r>
              <a:r>
                <a:rPr b="1" lang="en-US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senha forte</a:t>
              </a:r>
              <a:r>
                <a:rPr b="0"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e um </a:t>
              </a:r>
              <a:r>
                <a:rPr b="1" lang="en-US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nome de usuário único</a:t>
              </a:r>
              <a:r>
                <a:rPr b="0"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Escolha com sabedoria o seu username, pois ele fará parte da URL dos seus futuros projetos profissionais.</a:t>
              </a:r>
              <a:endParaRPr b="0"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7" name="Google Shape;277;p24"/>
          <p:cNvGrpSpPr/>
          <p:nvPr/>
        </p:nvGrpSpPr>
        <p:grpSpPr>
          <a:xfrm>
            <a:off x="10829925" y="2047875"/>
            <a:ext cx="4667400" cy="4667400"/>
            <a:chOff x="10829925" y="2047875"/>
            <a:chExt cx="4667400" cy="4667400"/>
          </a:xfrm>
        </p:grpSpPr>
        <p:sp>
          <p:nvSpPr>
            <p:cNvPr id="278" name="Google Shape;278;p24"/>
            <p:cNvSpPr/>
            <p:nvPr/>
          </p:nvSpPr>
          <p:spPr>
            <a:xfrm>
              <a:off x="10829925" y="2047875"/>
              <a:ext cx="4667400" cy="4667400"/>
            </a:xfrm>
            <a:prstGeom prst="roundRect">
              <a:avLst>
                <a:gd fmla="val 3265" name="adj"/>
              </a:avLst>
            </a:prstGeom>
            <a:solidFill>
              <a:srgbClr val="1E293B">
                <a:alpha val="6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4"/>
            <p:cNvSpPr txBox="1"/>
            <p:nvPr/>
          </p:nvSpPr>
          <p:spPr>
            <a:xfrm>
              <a:off x="11163300" y="2333625"/>
              <a:ext cx="4000500" cy="40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200">
                  <a:solidFill>
                    <a:srgbClr val="10B98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03</a:t>
              </a:r>
              <a:endParaRPr b="0" sz="4200">
                <a:solidFill>
                  <a:srgbClr val="10B98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Verifique e Ative</a:t>
              </a:r>
              <a:endPara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Resolva o rápido desafio de verificação anti-bot para garantir a segurança da plataforma.</a:t>
              </a:r>
              <a:endParaRPr b="0"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Abra a caixa de entrada do e-mail cadastrado, copie o </a:t>
              </a:r>
              <a:r>
                <a:rPr b="1" lang="en-US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código de ativação de 8 dígitos</a:t>
              </a:r>
              <a:r>
                <a:rPr b="0"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 enviado pelo GitHub e cole-o para concluir a validação.</a:t>
              </a:r>
              <a:endParaRPr b="0"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0" name="Google Shape;280;p24"/>
          <p:cNvGrpSpPr/>
          <p:nvPr/>
        </p:nvGrpSpPr>
        <p:grpSpPr>
          <a:xfrm>
            <a:off x="762000" y="7000875"/>
            <a:ext cx="14735100" cy="857400"/>
            <a:chOff x="762000" y="7000875"/>
            <a:chExt cx="14735100" cy="857400"/>
          </a:xfrm>
        </p:grpSpPr>
        <p:sp>
          <p:nvSpPr>
            <p:cNvPr id="281" name="Google Shape;281;p24"/>
            <p:cNvSpPr/>
            <p:nvPr/>
          </p:nvSpPr>
          <p:spPr>
            <a:xfrm>
              <a:off x="762000" y="7000875"/>
              <a:ext cx="14735100" cy="857400"/>
            </a:xfrm>
            <a:prstGeom prst="roundRect">
              <a:avLst>
                <a:gd fmla="val 13333" name="adj"/>
              </a:avLst>
            </a:prstGeom>
            <a:solidFill>
              <a:srgbClr val="0F172A">
                <a:alpha val="80000"/>
              </a:srgbClr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4"/>
            <p:cNvSpPr txBox="1"/>
            <p:nvPr/>
          </p:nvSpPr>
          <p:spPr>
            <a:xfrm>
              <a:off x="1143000" y="7143750"/>
              <a:ext cx="139731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💡 </a:t>
              </a:r>
              <a:r>
                <a:rPr b="1" lang="en-US" sz="12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Dica de Perfil:</a:t>
              </a:r>
              <a:r>
                <a:rPr b="0" lang="en-US" sz="115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 Use um e-mail que você acessa com frequência. O seu perfil do GitHub funciona como um portfólio vivo para recrutadores, então mantenha uma foto profissional e uma biografia clara para se destacar no mercado!</a:t>
              </a:r>
              <a:endParaRPr b="0" sz="11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5"/>
          <p:cNvSpPr txBox="1"/>
          <p:nvPr/>
        </p:nvSpPr>
        <p:spPr>
          <a:xfrm>
            <a:off x="1047750" y="571500"/>
            <a:ext cx="9525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 que é um Repositório?</a:t>
            </a:r>
            <a:endParaRPr b="0" sz="36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 elemento mais básico do Git e do GitHub para gerenciar seu código e histórico</a:t>
            </a:r>
            <a:endParaRPr b="0" sz="16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8" name="Google Shape;288;p25"/>
          <p:cNvSpPr/>
          <p:nvPr/>
        </p:nvSpPr>
        <p:spPr>
          <a:xfrm>
            <a:off x="13115925" y="762000"/>
            <a:ext cx="2095500" cy="476400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 cap="flat" cmpd="sng" w="1905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5"/>
          <p:cNvSpPr txBox="1"/>
          <p:nvPr/>
        </p:nvSpPr>
        <p:spPr>
          <a:xfrm>
            <a:off x="13115925" y="762000"/>
            <a:ext cx="2095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CONCEITO CHAVE</a:t>
            </a:r>
            <a:endParaRPr b="1" sz="120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90" name="Google Shape;290;p25"/>
          <p:cNvGrpSpPr/>
          <p:nvPr/>
        </p:nvGrpSpPr>
        <p:grpSpPr>
          <a:xfrm>
            <a:off x="1047750" y="2000250"/>
            <a:ext cx="6762900" cy="4667400"/>
            <a:chOff x="1047750" y="2000250"/>
            <a:chExt cx="6762900" cy="4667400"/>
          </a:xfrm>
        </p:grpSpPr>
        <p:sp>
          <p:nvSpPr>
            <p:cNvPr id="291" name="Google Shape;291;p25"/>
            <p:cNvSpPr/>
            <p:nvPr/>
          </p:nvSpPr>
          <p:spPr>
            <a:xfrm>
              <a:off x="1047750" y="2000250"/>
              <a:ext cx="6762900" cy="4667400"/>
            </a:xfrm>
            <a:prstGeom prst="roundRect">
              <a:avLst>
                <a:gd fmla="val 3265" name="adj"/>
              </a:avLst>
            </a:prstGeom>
            <a:solidFill>
              <a:srgbClr val="1E293B">
                <a:alpha val="6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5"/>
            <p:cNvSpPr txBox="1"/>
            <p:nvPr/>
          </p:nvSpPr>
          <p:spPr>
            <a:xfrm>
              <a:off x="1428750" y="2381250"/>
              <a:ext cx="6000900" cy="390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200">
                  <a:solidFill>
                    <a:srgbClr val="10B981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01</a:t>
              </a:r>
              <a:endParaRPr b="0" sz="3200">
                <a:solidFill>
                  <a:srgbClr val="10B981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 Essência do Repositório</a:t>
              </a:r>
              <a:endParaRPr b="1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É o local centralizado onde seu código, arquivos e todo o histórico de revisão são armazenados com segurança.</a:t>
              </a:r>
              <a:endParaRPr b="0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1125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-US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Contém </a:t>
              </a:r>
              <a:r>
                <a:rPr b="1" lang="en-US" sz="120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snapshots (fotos instantâneas)</a:t>
              </a:r>
              <a:r>
                <a:rPr b="0" lang="en-US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de todos os arquivos em cada versão salva.</a:t>
              </a:r>
              <a:endParaRPr b="0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-US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Mantém um </a:t>
              </a:r>
              <a:r>
                <a:rPr b="0" lang="en-US" sz="12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histórico completo</a:t>
              </a:r>
              <a:r>
                <a:rPr b="0" lang="en-US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de alterações, registrando quem modificou, quando e o que mudou.</a:t>
              </a:r>
              <a:endParaRPr b="0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750"/>
                </a:spcAft>
                <a:buSzPts val="1400"/>
                <a:buChar char="●"/>
              </a:pPr>
              <a:r>
                <a:rPr b="0" lang="en-US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Permite </a:t>
              </a:r>
              <a:r>
                <a:rPr b="0" lang="en-US" sz="1200">
                  <a:solidFill>
                    <a:srgbClr val="38BDF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ramificação (branches)</a:t>
              </a:r>
              <a:r>
                <a:rPr b="0" lang="en-US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para que múltiplos fluxos de desenvolvimento ocorram em paralelo.</a:t>
              </a:r>
              <a:endParaRPr b="0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93" name="Google Shape;293;p25"/>
          <p:cNvGrpSpPr/>
          <p:nvPr/>
        </p:nvGrpSpPr>
        <p:grpSpPr>
          <a:xfrm>
            <a:off x="8382000" y="2000250"/>
            <a:ext cx="6762900" cy="4667400"/>
            <a:chOff x="8382000" y="2000250"/>
            <a:chExt cx="6762900" cy="4667400"/>
          </a:xfrm>
        </p:grpSpPr>
        <p:sp>
          <p:nvSpPr>
            <p:cNvPr id="294" name="Google Shape;294;p25"/>
            <p:cNvSpPr/>
            <p:nvPr/>
          </p:nvSpPr>
          <p:spPr>
            <a:xfrm>
              <a:off x="8382000" y="2000250"/>
              <a:ext cx="6762900" cy="4667400"/>
            </a:xfrm>
            <a:prstGeom prst="roundRect">
              <a:avLst>
                <a:gd fmla="val 3265" name="adj"/>
              </a:avLst>
            </a:prstGeom>
            <a:solidFill>
              <a:srgbClr val="1E293B">
                <a:alpha val="6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5"/>
            <p:cNvSpPr txBox="1"/>
            <p:nvPr/>
          </p:nvSpPr>
          <p:spPr>
            <a:xfrm>
              <a:off x="8763000" y="2381250"/>
              <a:ext cx="6000900" cy="390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200">
                  <a:solidFill>
                    <a:srgbClr val="38BDF8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02</a:t>
              </a:r>
              <a:endParaRPr b="0" sz="3200">
                <a:solidFill>
                  <a:srgbClr val="38BDF8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Os Dois Ambientes</a:t>
              </a:r>
              <a:endParaRPr b="1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O controle de versão é distribuído, o que significa que o repositório existe em duas esferas integradas:</a:t>
              </a:r>
              <a:endParaRPr b="0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34D399"/>
                  </a:solidFill>
                  <a:latin typeface="Inter"/>
                  <a:ea typeface="Inter"/>
                  <a:cs typeface="Inter"/>
                  <a:sym typeface="Inter"/>
                </a:rPr>
                <a:t>📍 Repositório Local</a:t>
              </a:r>
              <a:endParaRPr b="1" sz="1500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Fica guardado no seu próprio computador, na pasta oculta </a:t>
              </a:r>
              <a:r>
                <a:rPr b="0" lang="en-US" sz="1200">
                  <a:solidFill>
                    <a:srgbClr val="FFFFFF"/>
                  </a:solidFill>
                  <a:highlight>
                    <a:srgbClr val="0F172A"/>
                  </a:highlight>
                  <a:latin typeface="Courier Prime"/>
                  <a:ea typeface="Courier Prime"/>
                  <a:cs typeface="Courier Prime"/>
                  <a:sym typeface="Courier Prime"/>
                </a:rPr>
                <a:t>.git</a:t>
              </a:r>
              <a:r>
                <a:rPr b="0" lang="en-US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. Todas as suas alterações e commits são registrados aqui mesmo sem internet.</a:t>
              </a:r>
              <a:endParaRPr b="0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FBBF24"/>
                  </a:solidFill>
                  <a:latin typeface="Inter"/>
                  <a:ea typeface="Inter"/>
                  <a:cs typeface="Inter"/>
                  <a:sym typeface="Inter"/>
                </a:rPr>
                <a:t>☁️ Repositório Remoto</a:t>
              </a:r>
              <a:endParaRPr b="1" sz="1500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Hospedado em plataformas na nuvem como o GitHub. Permite a colaboração de múltiplos desenvolvedores simultaneamente, com controle de acesso público ou privado.</a:t>
              </a:r>
              <a:endParaRPr b="0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96" name="Google Shape;296;p25"/>
          <p:cNvGrpSpPr/>
          <p:nvPr/>
        </p:nvGrpSpPr>
        <p:grpSpPr>
          <a:xfrm>
            <a:off x="1047750" y="7048500"/>
            <a:ext cx="14097000" cy="1047900"/>
            <a:chOff x="1047750" y="7048500"/>
            <a:chExt cx="14097000" cy="1047900"/>
          </a:xfrm>
        </p:grpSpPr>
        <p:sp>
          <p:nvSpPr>
            <p:cNvPr id="297" name="Google Shape;297;p25"/>
            <p:cNvSpPr/>
            <p:nvPr/>
          </p:nvSpPr>
          <p:spPr>
            <a:xfrm>
              <a:off x="1047750" y="7048500"/>
              <a:ext cx="14097000" cy="1047900"/>
            </a:xfrm>
            <a:prstGeom prst="roundRect">
              <a:avLst>
                <a:gd fmla="val 10909" name="adj"/>
              </a:avLst>
            </a:prstGeom>
            <a:solidFill>
              <a:srgbClr val="1E293B">
                <a:alpha val="94999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5"/>
            <p:cNvSpPr txBox="1"/>
            <p:nvPr/>
          </p:nvSpPr>
          <p:spPr>
            <a:xfrm>
              <a:off x="1333500" y="7048500"/>
              <a:ext cx="13525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💡 Resumo Didático</a:t>
              </a:r>
              <a:endParaRPr b="1" sz="1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Pense no repositório como o diário de bordo do seu projeto. O repositório </a:t>
              </a:r>
              <a:r>
                <a:rPr b="1" lang="en-US" sz="1100">
                  <a:solidFill>
                    <a:srgbClr val="34D399"/>
                  </a:solidFill>
                  <a:latin typeface="Inter"/>
                  <a:ea typeface="Inter"/>
                  <a:cs typeface="Inter"/>
                  <a:sym typeface="Inter"/>
                </a:rPr>
                <a:t>local</a:t>
              </a:r>
              <a:r>
                <a:rPr b="0"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é o seu rascunho pessoal onde você escreve livremente, e o repositório </a:t>
              </a:r>
              <a:r>
                <a:rPr b="1" lang="en-US" sz="1100">
                  <a:solidFill>
                    <a:srgbClr val="FBBF24"/>
                  </a:solidFill>
                  <a:latin typeface="Inter"/>
                  <a:ea typeface="Inter"/>
                  <a:cs typeface="Inter"/>
                  <a:sym typeface="Inter"/>
                </a:rPr>
                <a:t>remoto</a:t>
              </a:r>
              <a:r>
                <a:rPr b="0"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é o livro publicado na biblioteca onde outras pessoas podem ler e colaborar.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6"/>
          <p:cNvSpPr txBox="1"/>
          <p:nvPr/>
        </p:nvSpPr>
        <p:spPr>
          <a:xfrm>
            <a:off x="1047750" y="571500"/>
            <a:ext cx="1047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Criando um Repositório no GitHub</a:t>
            </a:r>
            <a:endParaRPr b="0" sz="36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Siga o passo a passo para inicializar seu projeto e começar a salvar seu histórico na nuvem</a:t>
            </a:r>
            <a:endParaRPr b="0" sz="16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4" name="Google Shape;304;p26"/>
          <p:cNvSpPr/>
          <p:nvPr/>
        </p:nvSpPr>
        <p:spPr>
          <a:xfrm>
            <a:off x="13115925" y="762000"/>
            <a:ext cx="2095500" cy="476400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 cap="flat" cmpd="sng" w="1905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6"/>
          <p:cNvSpPr txBox="1"/>
          <p:nvPr/>
        </p:nvSpPr>
        <p:spPr>
          <a:xfrm>
            <a:off x="13115925" y="762000"/>
            <a:ext cx="2095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PASSO A PASSO</a:t>
            </a:r>
            <a:endParaRPr b="1" sz="120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06" name="Google Shape;306;p26"/>
          <p:cNvGrpSpPr/>
          <p:nvPr/>
        </p:nvGrpSpPr>
        <p:grpSpPr>
          <a:xfrm>
            <a:off x="1047750" y="2000250"/>
            <a:ext cx="4476900" cy="4667400"/>
            <a:chOff x="1047750" y="2000250"/>
            <a:chExt cx="4476900" cy="4667400"/>
          </a:xfrm>
        </p:grpSpPr>
        <p:sp>
          <p:nvSpPr>
            <p:cNvPr id="307" name="Google Shape;307;p26"/>
            <p:cNvSpPr/>
            <p:nvPr/>
          </p:nvSpPr>
          <p:spPr>
            <a:xfrm>
              <a:off x="1047750" y="2000250"/>
              <a:ext cx="4476900" cy="4667400"/>
            </a:xfrm>
            <a:prstGeom prst="roundRect">
              <a:avLst>
                <a:gd fmla="val 3404" name="adj"/>
              </a:avLst>
            </a:prstGeom>
            <a:solidFill>
              <a:srgbClr val="1E293B">
                <a:alpha val="6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6"/>
            <p:cNvSpPr txBox="1"/>
            <p:nvPr/>
          </p:nvSpPr>
          <p:spPr>
            <a:xfrm>
              <a:off x="1381125" y="2333625"/>
              <a:ext cx="38100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200">
                  <a:solidFill>
                    <a:srgbClr val="10B981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01</a:t>
              </a:r>
              <a:endParaRPr b="0" sz="3200">
                <a:solidFill>
                  <a:srgbClr val="10B981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  <a:p>
              <a:pPr indent="0" lvl="0" marL="0" rtl="0" algn="l">
                <a:spcBef>
                  <a:spcPts val="825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Inicie o Processo</a:t>
              </a:r>
              <a:endParaRPr b="1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25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No painel principal do GitHub, após fazer login, clique no botão verde </a:t>
              </a:r>
              <a:r>
                <a:rPr b="1" lang="en-US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"New"</a:t>
              </a:r>
              <a:r>
                <a:rPr b="0" lang="en-US" sz="12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(Novo) localizado no canto superior esquerdo ao lado da sua lista de repositórios.</a:t>
              </a:r>
              <a:endParaRPr b="0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25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Como alternativa, você pode clicar no ícone de </a:t>
              </a:r>
              <a:r>
                <a:rPr b="1" lang="en-US" sz="12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+</a:t>
              </a:r>
              <a:r>
                <a:rPr b="0" lang="en-US" sz="12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no canto superior direito e selecionar </a:t>
              </a:r>
              <a:r>
                <a:rPr b="1" lang="en-US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"New repository"</a:t>
              </a:r>
              <a:r>
                <a:rPr b="0" lang="en-US" sz="12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09" name="Google Shape;309;p26"/>
          <p:cNvGrpSpPr/>
          <p:nvPr/>
        </p:nvGrpSpPr>
        <p:grpSpPr>
          <a:xfrm>
            <a:off x="5886450" y="2000250"/>
            <a:ext cx="4476900" cy="4667400"/>
            <a:chOff x="5886450" y="2000250"/>
            <a:chExt cx="4476900" cy="4667400"/>
          </a:xfrm>
        </p:grpSpPr>
        <p:sp>
          <p:nvSpPr>
            <p:cNvPr id="310" name="Google Shape;310;p26"/>
            <p:cNvSpPr/>
            <p:nvPr/>
          </p:nvSpPr>
          <p:spPr>
            <a:xfrm>
              <a:off x="5886450" y="2000250"/>
              <a:ext cx="4476900" cy="4667400"/>
            </a:xfrm>
            <a:prstGeom prst="roundRect">
              <a:avLst>
                <a:gd fmla="val 3404" name="adj"/>
              </a:avLst>
            </a:prstGeom>
            <a:solidFill>
              <a:srgbClr val="1E293B">
                <a:alpha val="6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6"/>
            <p:cNvSpPr txBox="1"/>
            <p:nvPr/>
          </p:nvSpPr>
          <p:spPr>
            <a:xfrm>
              <a:off x="6219825" y="2333625"/>
              <a:ext cx="38100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200">
                  <a:solidFill>
                    <a:srgbClr val="38BDF8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02</a:t>
              </a:r>
              <a:endParaRPr b="0" sz="3200">
                <a:solidFill>
                  <a:srgbClr val="38BDF8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  <a:p>
              <a:pPr indent="0" lvl="0" marL="0" rtl="0" algn="l">
                <a:spcBef>
                  <a:spcPts val="825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Configure os Detalhes</a:t>
              </a:r>
              <a:endParaRPr b="1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25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Preencha as configurações principais do seu novo projeto na página de criação:</a:t>
              </a:r>
              <a:endParaRPr b="0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825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-US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Repository name:</a:t>
              </a:r>
              <a:r>
                <a:rPr b="0" lang="en-US" sz="12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Escolha um nome claro e conciso (ex: </a:t>
              </a:r>
              <a:r>
                <a:rPr b="0" lang="en-US" sz="1200">
                  <a:solidFill>
                    <a:srgbClr val="34D399"/>
                  </a:solidFill>
                  <a:highlight>
                    <a:srgbClr val="0F172A"/>
                  </a:highlight>
                  <a:latin typeface="Courier Prime"/>
                  <a:ea typeface="Courier Prime"/>
                  <a:cs typeface="Courier Prime"/>
                  <a:sym typeface="Courier Prime"/>
                </a:rPr>
                <a:t>meu-projeto</a:t>
              </a:r>
              <a:r>
                <a:rPr b="0" lang="en-US" sz="12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).</a:t>
              </a:r>
              <a:endParaRPr b="0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450"/>
                </a:spcBef>
                <a:spcAft>
                  <a:spcPts val="450"/>
                </a:spcAft>
                <a:buSzPts val="1400"/>
                <a:buChar char="●"/>
              </a:pPr>
              <a:r>
                <a:rPr b="1" lang="en-US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Visibilidade:</a:t>
              </a:r>
              <a:r>
                <a:rPr b="0" lang="en-US" sz="12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Defina como </a:t>
              </a:r>
              <a:r>
                <a:rPr b="1" lang="en-US" sz="120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Public</a:t>
              </a:r>
              <a:r>
                <a:rPr b="0" lang="en-US" sz="12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(qualquer um vê) ou </a:t>
              </a:r>
              <a:r>
                <a:rPr b="1" lang="en-US" sz="1200">
                  <a:solidFill>
                    <a:srgbClr val="FBBF24"/>
                  </a:solidFill>
                  <a:latin typeface="Inter"/>
                  <a:ea typeface="Inter"/>
                  <a:cs typeface="Inter"/>
                  <a:sym typeface="Inter"/>
                </a:rPr>
                <a:t>Private</a:t>
              </a:r>
              <a:r>
                <a:rPr b="0" lang="en-US" sz="12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(apenas você e convidados).</a:t>
              </a:r>
              <a:endParaRPr b="0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12" name="Google Shape;312;p26"/>
          <p:cNvGrpSpPr/>
          <p:nvPr/>
        </p:nvGrpSpPr>
        <p:grpSpPr>
          <a:xfrm>
            <a:off x="10734675" y="2000250"/>
            <a:ext cx="4476900" cy="4667400"/>
            <a:chOff x="10734675" y="2000250"/>
            <a:chExt cx="4476900" cy="4667400"/>
          </a:xfrm>
        </p:grpSpPr>
        <p:sp>
          <p:nvSpPr>
            <p:cNvPr id="313" name="Google Shape;313;p26"/>
            <p:cNvSpPr/>
            <p:nvPr/>
          </p:nvSpPr>
          <p:spPr>
            <a:xfrm>
              <a:off x="10734675" y="2000250"/>
              <a:ext cx="4476900" cy="4667400"/>
            </a:xfrm>
            <a:prstGeom prst="roundRect">
              <a:avLst>
                <a:gd fmla="val 3404" name="adj"/>
              </a:avLst>
            </a:prstGeom>
            <a:solidFill>
              <a:srgbClr val="1E293B">
                <a:alpha val="6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6"/>
            <p:cNvSpPr txBox="1"/>
            <p:nvPr/>
          </p:nvSpPr>
          <p:spPr>
            <a:xfrm>
              <a:off x="11068050" y="2333625"/>
              <a:ext cx="38100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200">
                  <a:solidFill>
                    <a:srgbClr val="FBBF24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03</a:t>
              </a:r>
              <a:endParaRPr b="0" sz="3200">
                <a:solidFill>
                  <a:srgbClr val="FBBF24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  <a:p>
              <a:pPr indent="0" lvl="0" marL="0" rtl="0" algn="l">
                <a:spcBef>
                  <a:spcPts val="825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Inicialize e Crie</a:t>
              </a:r>
              <a:endParaRPr b="1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25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Escolha os arquivos opcionais para iniciar seu repositório com facilidade:</a:t>
              </a:r>
              <a:endParaRPr b="0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825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-US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Add a README file:</a:t>
              </a:r>
              <a:r>
                <a:rPr b="0" lang="en-US" sz="12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Adiciona um arquivo inicial para você descrever as regras e o propósito do seu projeto.</a:t>
              </a:r>
              <a:endParaRPr b="0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45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-US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.gitignore:</a:t>
              </a:r>
              <a:r>
                <a:rPr b="0" lang="en-US" sz="12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Selecione um modelo para evitar que arquivos desnecessários entrem no controle de versão.</a:t>
              </a:r>
              <a:endParaRPr b="0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25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Ao terminar, clique em </a:t>
              </a:r>
              <a:r>
                <a:rPr b="1" lang="en-US" sz="120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"Create repository"</a:t>
              </a:r>
              <a:r>
                <a:rPr b="0" lang="en-US" sz="12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no final da página.</a:t>
              </a:r>
              <a:endParaRPr b="0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15" name="Google Shape;315;p26"/>
          <p:cNvGrpSpPr/>
          <p:nvPr/>
        </p:nvGrpSpPr>
        <p:grpSpPr>
          <a:xfrm>
            <a:off x="1047750" y="7048500"/>
            <a:ext cx="14163600" cy="1047900"/>
            <a:chOff x="1047750" y="7048500"/>
            <a:chExt cx="14163600" cy="1047900"/>
          </a:xfrm>
        </p:grpSpPr>
        <p:sp>
          <p:nvSpPr>
            <p:cNvPr id="316" name="Google Shape;316;p26"/>
            <p:cNvSpPr/>
            <p:nvPr/>
          </p:nvSpPr>
          <p:spPr>
            <a:xfrm>
              <a:off x="1047750" y="7048500"/>
              <a:ext cx="14163600" cy="1047900"/>
            </a:xfrm>
            <a:prstGeom prst="roundRect">
              <a:avLst>
                <a:gd fmla="val 10909" name="adj"/>
              </a:avLst>
            </a:prstGeom>
            <a:solidFill>
              <a:srgbClr val="1E293B">
                <a:alpha val="94999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6"/>
            <p:cNvSpPr txBox="1"/>
            <p:nvPr/>
          </p:nvSpPr>
          <p:spPr>
            <a:xfrm>
              <a:off x="1333500" y="7048500"/>
              <a:ext cx="135921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225"/>
                </a:spcAft>
                <a:buNone/>
              </a:pPr>
              <a:r>
                <a:rPr lang="en-US" sz="1300">
                  <a:solidFill>
                    <a:srgbClr val="FFFFFF"/>
                  </a:solidFill>
                </a:rPr>
                <a:t>💡 </a:t>
              </a:r>
              <a:r>
                <a:rPr b="1" lang="en-US" sz="130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Dica Prática:</a:t>
              </a:r>
              <a:r>
                <a:rPr lang="en-US" sz="1300">
                  <a:solidFill>
                    <a:srgbClr val="FFFFFF"/>
                  </a:solidFill>
                </a:rPr>
                <a:t> Se você já tem um projeto local pronto na sua máquina, crie o repositório totalmente </a:t>
              </a:r>
              <a:r>
                <a:rPr b="1" lang="en-US" sz="1300">
                  <a:solidFill>
                    <a:srgbClr val="FBBF24"/>
                  </a:solidFill>
                </a:rPr>
                <a:t>vazio</a:t>
              </a:r>
              <a:r>
                <a:rPr lang="en-US" sz="1300">
                  <a:solidFill>
                    <a:srgbClr val="FFFFFF"/>
                  </a:solidFill>
                </a:rPr>
                <a:t> (sem README ou .gitignore). O próprio GitHub exibirá os comandos de terminal exatos, como </a:t>
              </a:r>
              <a:r>
                <a:rPr lang="en-US" sz="1300">
                  <a:solidFill>
                    <a:srgbClr val="34D399"/>
                  </a:solidFill>
                  <a:highlight>
                    <a:srgbClr val="0F172A"/>
                  </a:highlight>
                  <a:latin typeface="Courier Prime"/>
                  <a:ea typeface="Courier Prime"/>
                  <a:cs typeface="Courier Prime"/>
                  <a:sym typeface="Courier Prime"/>
                </a:rPr>
                <a:t>git remote add origin</a:t>
              </a:r>
              <a:r>
                <a:rPr lang="en-US" sz="1300">
                  <a:solidFill>
                    <a:srgbClr val="FFFFFF"/>
                  </a:solidFill>
                </a:rPr>
                <a:t>, para você enviar seu código local de forma rápida!</a:t>
              </a:r>
              <a:endParaRPr sz="1300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7"/>
          <p:cNvSpPr txBox="1"/>
          <p:nvPr/>
        </p:nvSpPr>
        <p:spPr>
          <a:xfrm>
            <a:off x="1047750" y="571500"/>
            <a:ext cx="9525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 que é um Commit?</a:t>
            </a:r>
            <a:endParaRPr b="0" sz="36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 ato de registrar suas alterações de forma permanente no histórico do Git</a:t>
            </a:r>
            <a:endParaRPr b="0" sz="16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3" name="Google Shape;323;p27"/>
          <p:cNvSpPr/>
          <p:nvPr/>
        </p:nvSpPr>
        <p:spPr>
          <a:xfrm>
            <a:off x="13115925" y="762000"/>
            <a:ext cx="2095500" cy="476400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 cap="flat" cmpd="sng" w="1905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7"/>
          <p:cNvSpPr txBox="1"/>
          <p:nvPr/>
        </p:nvSpPr>
        <p:spPr>
          <a:xfrm>
            <a:off x="13115925" y="762000"/>
            <a:ext cx="2095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CONCEITO CHAVE</a:t>
            </a:r>
            <a:endParaRPr b="1" sz="120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25" name="Google Shape;325;p27"/>
          <p:cNvGrpSpPr/>
          <p:nvPr/>
        </p:nvGrpSpPr>
        <p:grpSpPr>
          <a:xfrm>
            <a:off x="1047750" y="2000250"/>
            <a:ext cx="6762900" cy="4667400"/>
            <a:chOff x="1047750" y="2000250"/>
            <a:chExt cx="6762900" cy="4667400"/>
          </a:xfrm>
        </p:grpSpPr>
        <p:sp>
          <p:nvSpPr>
            <p:cNvPr id="326" name="Google Shape;326;p27"/>
            <p:cNvSpPr/>
            <p:nvPr/>
          </p:nvSpPr>
          <p:spPr>
            <a:xfrm>
              <a:off x="1047750" y="2000250"/>
              <a:ext cx="6762900" cy="4667400"/>
            </a:xfrm>
            <a:prstGeom prst="roundRect">
              <a:avLst>
                <a:gd fmla="val 3265" name="adj"/>
              </a:avLst>
            </a:prstGeom>
            <a:solidFill>
              <a:srgbClr val="1E293B">
                <a:alpha val="6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7"/>
            <p:cNvSpPr txBox="1"/>
            <p:nvPr/>
          </p:nvSpPr>
          <p:spPr>
            <a:xfrm>
              <a:off x="1428750" y="2381250"/>
              <a:ext cx="6000900" cy="390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200">
                  <a:solidFill>
                    <a:srgbClr val="10B981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01</a:t>
              </a:r>
              <a:endParaRPr b="0" sz="3200">
                <a:solidFill>
                  <a:srgbClr val="10B981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 Essência do Commit</a:t>
              </a:r>
              <a:endParaRPr b="1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Um commit registra alterações em um ou mais arquivos no seu branch, de forma muito parecida com </a:t>
              </a:r>
              <a:r>
                <a:rPr b="1" lang="en-US" sz="120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salvar um arquivo</a:t>
              </a:r>
              <a:r>
                <a:rPr b="0" lang="en-US" sz="12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qualquer que foi editado.</a:t>
              </a:r>
              <a:endParaRPr b="0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1875"/>
                </a:spcBef>
                <a:spcAft>
                  <a:spcPts val="0"/>
                </a:spcAft>
                <a:buClr>
                  <a:srgbClr val="94A3B8"/>
                </a:buClr>
                <a:buSzPts val="1200"/>
                <a:buFont typeface="Inter"/>
                <a:buChar char="●"/>
              </a:pPr>
              <a:r>
                <a:rPr b="0" lang="en-US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Representa um ponto na história ou uma </a:t>
              </a:r>
              <a:r>
                <a:rPr b="1" lang="en-US" sz="120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foto instantânea (snapshot)</a:t>
              </a:r>
              <a:r>
                <a:rPr b="0" lang="en-US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do projeto.</a:t>
              </a:r>
              <a:endParaRPr b="0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94A3B8"/>
                </a:buClr>
                <a:buSzPts val="1200"/>
                <a:buFont typeface="Inter"/>
                <a:buChar char="●"/>
              </a:pPr>
              <a:r>
                <a:rPr b="0" lang="en-US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Garante a integridade do código ao criar um ponto de restauração seguro.</a:t>
              </a:r>
              <a:endParaRPr b="0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750"/>
                </a:spcBef>
                <a:spcAft>
                  <a:spcPts val="750"/>
                </a:spcAft>
                <a:buClr>
                  <a:srgbClr val="94A3B8"/>
                </a:buClr>
                <a:buSzPts val="1200"/>
                <a:buFont typeface="Inter"/>
                <a:buChar char="●"/>
              </a:pPr>
              <a:r>
                <a:rPr b="0" lang="en-US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Ao fazer um commit, você deve colocar uma </a:t>
              </a:r>
              <a:r>
                <a:rPr b="1" lang="en-US" sz="12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mensagem descritiva</a:t>
              </a:r>
              <a:r>
                <a:rPr b="0" lang="en-US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que explique brevemente as alterações feitas.</a:t>
              </a:r>
              <a:endParaRPr b="0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28" name="Google Shape;328;p27"/>
          <p:cNvGrpSpPr/>
          <p:nvPr/>
        </p:nvGrpSpPr>
        <p:grpSpPr>
          <a:xfrm>
            <a:off x="8382000" y="2000250"/>
            <a:ext cx="6762900" cy="4667400"/>
            <a:chOff x="8382000" y="2000250"/>
            <a:chExt cx="6762900" cy="4667400"/>
          </a:xfrm>
        </p:grpSpPr>
        <p:sp>
          <p:nvSpPr>
            <p:cNvPr id="329" name="Google Shape;329;p27"/>
            <p:cNvSpPr/>
            <p:nvPr/>
          </p:nvSpPr>
          <p:spPr>
            <a:xfrm>
              <a:off x="8382000" y="2000250"/>
              <a:ext cx="6762900" cy="4667400"/>
            </a:xfrm>
            <a:prstGeom prst="roundRect">
              <a:avLst>
                <a:gd fmla="val 3265" name="adj"/>
              </a:avLst>
            </a:prstGeom>
            <a:solidFill>
              <a:srgbClr val="1E293B">
                <a:alpha val="6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7"/>
            <p:cNvSpPr txBox="1"/>
            <p:nvPr/>
          </p:nvSpPr>
          <p:spPr>
            <a:xfrm>
              <a:off x="8763000" y="2381250"/>
              <a:ext cx="6000900" cy="390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200">
                  <a:solidFill>
                    <a:srgbClr val="38BDF8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02</a:t>
              </a:r>
              <a:endParaRPr b="0" sz="3200">
                <a:solidFill>
                  <a:srgbClr val="38BDF8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 Identidade (SHA / Hash)</a:t>
              </a:r>
              <a:endParaRPr b="1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O Git atribui a cada commit um ID exclusivo, denominado </a:t>
              </a:r>
              <a:r>
                <a:rPr b="0" lang="en-US" sz="1200">
                  <a:solidFill>
                    <a:srgbClr val="FFFFFF"/>
                  </a:solidFill>
                  <a:highlight>
                    <a:srgbClr val="0F172A"/>
                  </a:highlight>
                  <a:latin typeface="Courier Prime"/>
                  <a:ea typeface="Courier Prime"/>
                  <a:cs typeface="Courier Prime"/>
                  <a:sym typeface="Courier Prime"/>
                </a:rPr>
                <a:t>SHA</a:t>
              </a:r>
              <a:r>
                <a:rPr b="0" lang="en-US" sz="12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ou </a:t>
              </a:r>
              <a:r>
                <a:rPr b="0" lang="en-US" sz="1200">
                  <a:solidFill>
                    <a:srgbClr val="FFFFFF"/>
                  </a:solidFill>
                  <a:highlight>
                    <a:srgbClr val="0F172A"/>
                  </a:highlight>
                  <a:latin typeface="Courier Prime"/>
                  <a:ea typeface="Courier Prime"/>
                  <a:cs typeface="Courier Prime"/>
                  <a:sym typeface="Courier Prime"/>
                </a:rPr>
                <a:t>hash</a:t>
              </a:r>
              <a:r>
                <a:rPr b="0" lang="en-US" sz="12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, que funciona como uma assinatura matemática para identificar:</a:t>
              </a:r>
              <a:endParaRPr b="0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1875"/>
                </a:spcBef>
                <a:spcAft>
                  <a:spcPts val="0"/>
                </a:spcAft>
                <a:buClr>
                  <a:srgbClr val="94A3B8"/>
                </a:buClr>
                <a:buSzPts val="1200"/>
                <a:buFont typeface="Inter"/>
                <a:buChar char="●"/>
              </a:pPr>
              <a:r>
                <a:rPr b="0" lang="en-US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🔍 </a:t>
              </a:r>
              <a:r>
                <a:rPr b="1" lang="en-US" sz="12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Cada uma das alterações</a:t>
              </a:r>
              <a:r>
                <a:rPr b="0" lang="en-US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que foram feitas nos arquivos do repositório.</a:t>
              </a:r>
              <a:endParaRPr b="0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94A3B8"/>
                </a:buClr>
                <a:buSzPts val="1200"/>
                <a:buFont typeface="Inter"/>
                <a:buChar char="●"/>
              </a:pPr>
              <a:r>
                <a:rPr b="0" lang="en-US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📅 </a:t>
              </a:r>
              <a:r>
                <a:rPr b="1" lang="en-US" sz="12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O momento exato</a:t>
              </a:r>
              <a:r>
                <a:rPr b="0" lang="en-US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(data e hora) em que as alterações foram registradas.</a:t>
              </a:r>
              <a:endParaRPr b="0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750"/>
                </a:spcBef>
                <a:spcAft>
                  <a:spcPts val="750"/>
                </a:spcAft>
                <a:buClr>
                  <a:srgbClr val="94A3B8"/>
                </a:buClr>
                <a:buSzPts val="1200"/>
                <a:buFont typeface="Inter"/>
                <a:buChar char="●"/>
              </a:pPr>
              <a:r>
                <a:rPr b="0" lang="en-US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👤 </a:t>
              </a:r>
              <a:r>
                <a:rPr b="1" lang="en-US" sz="12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O autor</a:t>
              </a:r>
              <a:r>
                <a:rPr b="0" lang="en-US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responsável por realizar e salvar as alterações.</a:t>
              </a:r>
              <a:endParaRPr b="0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31" name="Google Shape;331;p27"/>
          <p:cNvGrpSpPr/>
          <p:nvPr/>
        </p:nvGrpSpPr>
        <p:grpSpPr>
          <a:xfrm>
            <a:off x="1047750" y="7048500"/>
            <a:ext cx="14097000" cy="1047900"/>
            <a:chOff x="1047750" y="7048500"/>
            <a:chExt cx="14097000" cy="1047900"/>
          </a:xfrm>
        </p:grpSpPr>
        <p:sp>
          <p:nvSpPr>
            <p:cNvPr id="332" name="Google Shape;332;p27"/>
            <p:cNvSpPr/>
            <p:nvPr/>
          </p:nvSpPr>
          <p:spPr>
            <a:xfrm>
              <a:off x="1047750" y="7048500"/>
              <a:ext cx="14097000" cy="1047900"/>
            </a:xfrm>
            <a:prstGeom prst="roundRect">
              <a:avLst>
                <a:gd fmla="val 10909" name="adj"/>
              </a:avLst>
            </a:prstGeom>
            <a:solidFill>
              <a:srgbClr val="1E293B">
                <a:alpha val="94999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7"/>
            <p:cNvSpPr txBox="1"/>
            <p:nvPr/>
          </p:nvSpPr>
          <p:spPr>
            <a:xfrm>
              <a:off x="1333500" y="7048500"/>
              <a:ext cx="13525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💡 Boas Práticas para Mensagens</a:t>
              </a:r>
              <a:endParaRPr b="1" sz="1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Escreva commits atômicos (uma única responsabilidade por vez) e utilize o verbo no imperativo em suas mensagens (ex: </a:t>
              </a:r>
              <a:r>
                <a:rPr b="0" lang="en-US" sz="1200">
                  <a:solidFill>
                    <a:srgbClr val="FFFFFF"/>
                  </a:solidFill>
                  <a:highlight>
                    <a:srgbClr val="0F172A"/>
                  </a:highlight>
                  <a:latin typeface="Courier Prime"/>
                  <a:ea typeface="Courier Prime"/>
                  <a:cs typeface="Courier Prime"/>
                  <a:sym typeface="Courier Prime"/>
                </a:rPr>
                <a:t>"Adiciona classe de conexão"</a:t>
              </a:r>
              <a:r>
                <a:rPr b="0"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ou </a:t>
              </a:r>
              <a:r>
                <a:rPr b="0" lang="en-US" sz="1200">
                  <a:solidFill>
                    <a:srgbClr val="FFFFFF"/>
                  </a:solidFill>
                  <a:highlight>
                    <a:srgbClr val="0F172A"/>
                  </a:highlight>
                  <a:latin typeface="Courier Prime"/>
                  <a:ea typeface="Courier Prime"/>
                  <a:cs typeface="Courier Prime"/>
                  <a:sym typeface="Courier Prime"/>
                </a:rPr>
                <a:t>"Corrige bug no formulário"</a:t>
              </a:r>
              <a:r>
                <a:rPr b="0"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).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8"/>
          <p:cNvSpPr txBox="1"/>
          <p:nvPr/>
        </p:nvSpPr>
        <p:spPr>
          <a:xfrm>
            <a:off x="1047750" y="571500"/>
            <a:ext cx="1047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Como Fazer um Commit no Git?</a:t>
            </a:r>
            <a:endParaRPr b="0" sz="36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 passo a passo prático para salvar suas alterações de forma definitiva</a:t>
            </a:r>
            <a:endParaRPr b="0" sz="16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9" name="Google Shape;339;p28"/>
          <p:cNvSpPr/>
          <p:nvPr/>
        </p:nvSpPr>
        <p:spPr>
          <a:xfrm>
            <a:off x="13115925" y="762000"/>
            <a:ext cx="2095500" cy="476400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 cap="flat" cmpd="sng" w="1905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8"/>
          <p:cNvSpPr txBox="1"/>
          <p:nvPr/>
        </p:nvSpPr>
        <p:spPr>
          <a:xfrm>
            <a:off x="13115925" y="762000"/>
            <a:ext cx="2095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PASSO A PASSO</a:t>
            </a:r>
            <a:endParaRPr b="1" sz="120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41" name="Google Shape;341;p28"/>
          <p:cNvGrpSpPr/>
          <p:nvPr/>
        </p:nvGrpSpPr>
        <p:grpSpPr>
          <a:xfrm>
            <a:off x="1047750" y="2000250"/>
            <a:ext cx="4476900" cy="4667400"/>
            <a:chOff x="1047750" y="2000250"/>
            <a:chExt cx="4476900" cy="4667400"/>
          </a:xfrm>
        </p:grpSpPr>
        <p:sp>
          <p:nvSpPr>
            <p:cNvPr id="342" name="Google Shape;342;p28"/>
            <p:cNvSpPr/>
            <p:nvPr/>
          </p:nvSpPr>
          <p:spPr>
            <a:xfrm>
              <a:off x="1047750" y="2000250"/>
              <a:ext cx="4476900" cy="4667400"/>
            </a:xfrm>
            <a:prstGeom prst="roundRect">
              <a:avLst>
                <a:gd fmla="val 3404" name="adj"/>
              </a:avLst>
            </a:prstGeom>
            <a:solidFill>
              <a:srgbClr val="1E293B">
                <a:alpha val="6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8"/>
            <p:cNvSpPr txBox="1"/>
            <p:nvPr/>
          </p:nvSpPr>
          <p:spPr>
            <a:xfrm>
              <a:off x="1428750" y="2381250"/>
              <a:ext cx="3714900" cy="390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200">
                  <a:solidFill>
                    <a:srgbClr val="10B981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01</a:t>
              </a:r>
              <a:endParaRPr b="0" sz="3200">
                <a:solidFill>
                  <a:srgbClr val="10B981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Modifique os Arquivos</a:t>
              </a:r>
              <a:endParaRPr b="1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Trabalhe normalmente no seu editor de código fazendo as alterações necessárias no seu projeto.</a:t>
              </a:r>
              <a:endParaRPr b="0" sz="11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Antes de salvar o histórico, você cria, edita ou deleta linhas de código nos arquivos da sua pasta de trabalho (Working Directory).</a:t>
              </a:r>
              <a:endParaRPr b="0" sz="11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44" name="Google Shape;344;p28"/>
          <p:cNvGrpSpPr/>
          <p:nvPr/>
        </p:nvGrpSpPr>
        <p:grpSpPr>
          <a:xfrm>
            <a:off x="5886450" y="2000250"/>
            <a:ext cx="4476900" cy="4667400"/>
            <a:chOff x="5886450" y="2000250"/>
            <a:chExt cx="4476900" cy="4667400"/>
          </a:xfrm>
        </p:grpSpPr>
        <p:sp>
          <p:nvSpPr>
            <p:cNvPr id="345" name="Google Shape;345;p28"/>
            <p:cNvSpPr/>
            <p:nvPr/>
          </p:nvSpPr>
          <p:spPr>
            <a:xfrm>
              <a:off x="5886450" y="2000250"/>
              <a:ext cx="4476900" cy="4667400"/>
            </a:xfrm>
            <a:prstGeom prst="roundRect">
              <a:avLst>
                <a:gd fmla="val 3404" name="adj"/>
              </a:avLst>
            </a:prstGeom>
            <a:solidFill>
              <a:srgbClr val="1E293B">
                <a:alpha val="6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8"/>
            <p:cNvSpPr txBox="1"/>
            <p:nvPr/>
          </p:nvSpPr>
          <p:spPr>
            <a:xfrm>
              <a:off x="6267450" y="2381250"/>
              <a:ext cx="3714900" cy="390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200">
                  <a:solidFill>
                    <a:srgbClr val="38BDF8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02</a:t>
              </a:r>
              <a:endParaRPr b="0" sz="3200">
                <a:solidFill>
                  <a:srgbClr val="38BDF8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Prepare com "git add"</a:t>
              </a:r>
              <a:endParaRPr b="1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Adicione os arquivos modificados à área de preparação (Staging Area) para indicar ao Git o que deve ser salvo.</a:t>
              </a:r>
              <a:endParaRPr b="0" sz="11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34D399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git add nome-do-arquivo.js</a:t>
              </a:r>
              <a:endParaRPr b="1" sz="1300">
                <a:solidFill>
                  <a:srgbClr val="34D399"/>
                </a:solidFill>
                <a:highlight>
                  <a:srgbClr val="0F172A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Use </a:t>
              </a:r>
              <a:r>
                <a:rPr b="0" lang="en-US" sz="1150">
                  <a:solidFill>
                    <a:srgbClr val="FFFFFF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git add .</a:t>
              </a:r>
              <a:r>
                <a:rPr b="0" lang="en-US" sz="11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para preparar todas as alterações de uma vez só.</a:t>
              </a:r>
              <a:endParaRPr b="0" sz="11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47" name="Google Shape;347;p28"/>
          <p:cNvGrpSpPr/>
          <p:nvPr/>
        </p:nvGrpSpPr>
        <p:grpSpPr>
          <a:xfrm>
            <a:off x="10734675" y="2000250"/>
            <a:ext cx="4476900" cy="4667400"/>
            <a:chOff x="10734675" y="2000250"/>
            <a:chExt cx="4476900" cy="4667400"/>
          </a:xfrm>
        </p:grpSpPr>
        <p:sp>
          <p:nvSpPr>
            <p:cNvPr id="348" name="Google Shape;348;p28"/>
            <p:cNvSpPr/>
            <p:nvPr/>
          </p:nvSpPr>
          <p:spPr>
            <a:xfrm>
              <a:off x="10734675" y="2000250"/>
              <a:ext cx="4476900" cy="4667400"/>
            </a:xfrm>
            <a:prstGeom prst="roundRect">
              <a:avLst>
                <a:gd fmla="val 3404" name="adj"/>
              </a:avLst>
            </a:prstGeom>
            <a:solidFill>
              <a:srgbClr val="1E293B">
                <a:alpha val="6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8"/>
            <p:cNvSpPr txBox="1"/>
            <p:nvPr/>
          </p:nvSpPr>
          <p:spPr>
            <a:xfrm>
              <a:off x="11115675" y="2381250"/>
              <a:ext cx="3714900" cy="390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200">
                  <a:solidFill>
                    <a:srgbClr val="FBBF24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03</a:t>
              </a:r>
              <a:endParaRPr b="0" sz="3200">
                <a:solidFill>
                  <a:srgbClr val="FBBF24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Grave com "git commit"</a:t>
              </a:r>
              <a:endParaRPr b="1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Salve o snapshot definitivo do seu código no histórico local junto com uma mensagem explicativa.</a:t>
              </a:r>
              <a:endParaRPr b="0" sz="11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34D399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git commit -m "Mensagem"</a:t>
              </a:r>
              <a:endParaRPr b="1" sz="1300">
                <a:solidFill>
                  <a:srgbClr val="34D399"/>
                </a:solidFill>
                <a:highlight>
                  <a:srgbClr val="0F172A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 flag </a:t>
              </a:r>
              <a:r>
                <a:rPr b="0" lang="en-US" sz="115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-m</a:t>
              </a:r>
              <a:r>
                <a:rPr b="0" lang="en-US" sz="11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permite definir a mensagem do commit diretamente pelo terminal de forma rápida e prática.</a:t>
              </a:r>
              <a:endParaRPr b="0" sz="11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50" name="Google Shape;350;p28"/>
          <p:cNvGrpSpPr/>
          <p:nvPr/>
        </p:nvGrpSpPr>
        <p:grpSpPr>
          <a:xfrm>
            <a:off x="1047750" y="7048500"/>
            <a:ext cx="14163600" cy="1047900"/>
            <a:chOff x="1047750" y="7048500"/>
            <a:chExt cx="14163600" cy="1047900"/>
          </a:xfrm>
        </p:grpSpPr>
        <p:sp>
          <p:nvSpPr>
            <p:cNvPr id="351" name="Google Shape;351;p28"/>
            <p:cNvSpPr/>
            <p:nvPr/>
          </p:nvSpPr>
          <p:spPr>
            <a:xfrm>
              <a:off x="1047750" y="7048500"/>
              <a:ext cx="14163600" cy="1047900"/>
            </a:xfrm>
            <a:prstGeom prst="roundRect">
              <a:avLst>
                <a:gd fmla="val 10909" name="adj"/>
              </a:avLst>
            </a:prstGeom>
            <a:solidFill>
              <a:srgbClr val="1E293B">
                <a:alpha val="94999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8"/>
            <p:cNvSpPr txBox="1"/>
            <p:nvPr/>
          </p:nvSpPr>
          <p:spPr>
            <a:xfrm>
              <a:off x="1333500" y="7048500"/>
              <a:ext cx="135921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💡 Resumo do Fluxo Essencial</a:t>
              </a:r>
              <a:endParaRPr b="1" sz="1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O ciclo de vida padrão de qualquer alteração no seu código segue sempre esta sequência lógica: </a:t>
              </a:r>
              <a:r>
                <a:rPr b="1" lang="en-US" sz="110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Modificar</a:t>
              </a:r>
              <a:r>
                <a:rPr b="0"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(no editor) ➔ </a:t>
              </a:r>
              <a:r>
                <a:rPr b="1" lang="en-US" sz="11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Preparar</a:t>
              </a:r>
              <a:r>
                <a:rPr b="0"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(com git add) ➔ </a:t>
              </a:r>
              <a:r>
                <a:rPr b="1" lang="en-US" sz="1100">
                  <a:solidFill>
                    <a:srgbClr val="FBBF24"/>
                  </a:solidFill>
                  <a:latin typeface="Inter"/>
                  <a:ea typeface="Inter"/>
                  <a:cs typeface="Inter"/>
                  <a:sym typeface="Inter"/>
                </a:rPr>
                <a:t>Gravar</a:t>
              </a:r>
              <a:r>
                <a:rPr b="0"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(com git commit).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2591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9"/>
          <p:cNvSpPr/>
          <p:nvPr/>
        </p:nvSpPr>
        <p:spPr>
          <a:xfrm>
            <a:off x="0" y="0"/>
            <a:ext cx="16259100" cy="9144000"/>
          </a:xfrm>
          <a:prstGeom prst="rect">
            <a:avLst/>
          </a:prstGeom>
          <a:solidFill>
            <a:srgbClr val="111827">
              <a:alpha val="4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9"/>
          <p:cNvSpPr txBox="1"/>
          <p:nvPr/>
        </p:nvSpPr>
        <p:spPr>
          <a:xfrm>
            <a:off x="1047750" y="571500"/>
            <a:ext cx="9525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 que é uma Branch?</a:t>
            </a:r>
            <a:endParaRPr b="0" sz="36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Uma linha de desenvolvimento isolada para criar novos recursos com segurança</a:t>
            </a:r>
            <a:endParaRPr b="0" sz="16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0" name="Google Shape;360;p29"/>
          <p:cNvSpPr/>
          <p:nvPr/>
        </p:nvSpPr>
        <p:spPr>
          <a:xfrm>
            <a:off x="13115925" y="762000"/>
            <a:ext cx="2095500" cy="476400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 cap="flat" cmpd="sng" w="1905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9"/>
          <p:cNvSpPr txBox="1"/>
          <p:nvPr/>
        </p:nvSpPr>
        <p:spPr>
          <a:xfrm>
            <a:off x="13115925" y="762000"/>
            <a:ext cx="2095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CONCEITO CHAVE</a:t>
            </a:r>
            <a:endParaRPr b="1" sz="120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62" name="Google Shape;362;p29"/>
          <p:cNvGrpSpPr/>
          <p:nvPr/>
        </p:nvGrpSpPr>
        <p:grpSpPr>
          <a:xfrm>
            <a:off x="1047750" y="2000250"/>
            <a:ext cx="4476900" cy="4667400"/>
            <a:chOff x="1047750" y="2000250"/>
            <a:chExt cx="4476900" cy="4667400"/>
          </a:xfrm>
        </p:grpSpPr>
        <p:sp>
          <p:nvSpPr>
            <p:cNvPr id="363" name="Google Shape;363;p29"/>
            <p:cNvSpPr/>
            <p:nvPr/>
          </p:nvSpPr>
          <p:spPr>
            <a:xfrm>
              <a:off x="1047750" y="2000250"/>
              <a:ext cx="4476900" cy="4667400"/>
            </a:xfrm>
            <a:prstGeom prst="roundRect">
              <a:avLst>
                <a:gd fmla="val 3404" name="adj"/>
              </a:avLst>
            </a:prstGeom>
            <a:solidFill>
              <a:srgbClr val="1E293B">
                <a:alpha val="6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9"/>
            <p:cNvSpPr txBox="1"/>
            <p:nvPr/>
          </p:nvSpPr>
          <p:spPr>
            <a:xfrm>
              <a:off x="1333500" y="2286000"/>
              <a:ext cx="3905400" cy="40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200">
                  <a:solidFill>
                    <a:srgbClr val="10B981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01</a:t>
              </a:r>
              <a:endParaRPr b="0" sz="3200">
                <a:solidFill>
                  <a:srgbClr val="10B981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O Conceito de Branch</a:t>
              </a:r>
              <a:endParaRPr b="1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Permite criar um caminho paralelo para testar ideias ou implementar novas funcionalidades sem mexer no código que já está funcionando.</a:t>
              </a:r>
              <a:endParaRPr b="0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1625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CBD5E1"/>
                </a:buClr>
                <a:buSzPts val="1150"/>
                <a:buFont typeface="Inter"/>
                <a:buChar char="●"/>
              </a:pPr>
              <a:r>
                <a:rPr b="0" lang="en-US" sz="11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Ideal para experimentar livremente no arquivo principal.</a:t>
              </a:r>
              <a:endParaRPr b="0" sz="11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162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CBD5E1"/>
                </a:buClr>
                <a:buSzPts val="1150"/>
                <a:buFont typeface="Inter"/>
                <a:buChar char="●"/>
              </a:pPr>
              <a:r>
                <a:rPr b="0" lang="en-US" sz="11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Permite que vários colaboradores trabalhem ao mesmo tempo no projeto, cada um em sua própria branch.</a:t>
              </a:r>
              <a:endParaRPr b="0" sz="11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1625" lvl="0" marL="457200" rtl="0" algn="l">
                <a:spcBef>
                  <a:spcPts val="450"/>
                </a:spcBef>
                <a:spcAft>
                  <a:spcPts val="450"/>
                </a:spcAft>
                <a:buClr>
                  <a:srgbClr val="CBD5E1"/>
                </a:buClr>
                <a:buSzPts val="1150"/>
                <a:buFont typeface="Inter"/>
                <a:buChar char="●"/>
              </a:pPr>
              <a:r>
                <a:rPr b="0" lang="en-US" sz="11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No final do desenvolvimento, todas as alterações são mescladas (merge) de volta para a branch principal (main).</a:t>
              </a:r>
              <a:endParaRPr b="0" sz="11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65" name="Google Shape;365;p29"/>
          <p:cNvGrpSpPr/>
          <p:nvPr/>
        </p:nvGrpSpPr>
        <p:grpSpPr>
          <a:xfrm>
            <a:off x="5810250" y="2000250"/>
            <a:ext cx="4476900" cy="4667400"/>
            <a:chOff x="5810250" y="2000250"/>
            <a:chExt cx="4476900" cy="4667400"/>
          </a:xfrm>
        </p:grpSpPr>
        <p:sp>
          <p:nvSpPr>
            <p:cNvPr id="366" name="Google Shape;366;p29"/>
            <p:cNvSpPr/>
            <p:nvPr/>
          </p:nvSpPr>
          <p:spPr>
            <a:xfrm>
              <a:off x="5810250" y="2000250"/>
              <a:ext cx="4476900" cy="4667400"/>
            </a:xfrm>
            <a:prstGeom prst="roundRect">
              <a:avLst>
                <a:gd fmla="val 3404" name="adj"/>
              </a:avLst>
            </a:prstGeom>
            <a:solidFill>
              <a:srgbClr val="1E293B">
                <a:alpha val="6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9"/>
            <p:cNvSpPr txBox="1"/>
            <p:nvPr/>
          </p:nvSpPr>
          <p:spPr>
            <a:xfrm>
              <a:off x="6096000" y="2286000"/>
              <a:ext cx="3905400" cy="40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200">
                  <a:solidFill>
                    <a:srgbClr val="10B981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02</a:t>
              </a:r>
              <a:endParaRPr b="0" sz="3200">
                <a:solidFill>
                  <a:srgbClr val="10B981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Criando e Navegando</a:t>
              </a:r>
              <a:endParaRPr b="1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Crie um espaço de trabalho dedicado para o seu recurso (ex: menu) e mude para ele:</a:t>
              </a:r>
              <a:endParaRPr b="0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34D399"/>
                  </a:solidFill>
                  <a:highlight>
                    <a:srgbClr val="0F172A"/>
                  </a:highlight>
                  <a:latin typeface="Courier Prime"/>
                  <a:ea typeface="Courier Prime"/>
                  <a:cs typeface="Courier Prime"/>
                  <a:sym typeface="Courier Prime"/>
                </a:rPr>
                <a:t>git branch menu-navegacao</a:t>
              </a:r>
              <a:endParaRPr/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# Cria a nova ramificação chamada menu-navegacao</a:t>
              </a:r>
              <a:endParaRPr b="0"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34D399"/>
                  </a:solidFill>
                  <a:highlight>
                    <a:srgbClr val="0F172A"/>
                  </a:highlight>
                  <a:latin typeface="Courier Prime"/>
                  <a:ea typeface="Courier Prime"/>
                  <a:cs typeface="Courier Prime"/>
                  <a:sym typeface="Courier Prime"/>
                </a:rPr>
                <a:t>git checkout menu-navegacao</a:t>
              </a:r>
              <a:endParaRPr/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# Transfere você para a nova branch de trabalho</a:t>
              </a:r>
              <a:endParaRPr b="0"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8BDF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Dica: Use git checkout -b nome para criar e entrar ao mesmo tempo!</a:t>
              </a:r>
              <a:endParaRPr b="0" sz="110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368" name="Google Shape;368;p29"/>
          <p:cNvGrpSpPr/>
          <p:nvPr/>
        </p:nvGrpSpPr>
        <p:grpSpPr>
          <a:xfrm>
            <a:off x="10572750" y="2000250"/>
            <a:ext cx="4638600" cy="4667400"/>
            <a:chOff x="10572750" y="2000250"/>
            <a:chExt cx="4638600" cy="4667400"/>
          </a:xfrm>
        </p:grpSpPr>
        <p:sp>
          <p:nvSpPr>
            <p:cNvPr id="369" name="Google Shape;369;p29"/>
            <p:cNvSpPr/>
            <p:nvPr/>
          </p:nvSpPr>
          <p:spPr>
            <a:xfrm>
              <a:off x="10572750" y="2000250"/>
              <a:ext cx="4638600" cy="4667400"/>
            </a:xfrm>
            <a:prstGeom prst="roundRect">
              <a:avLst>
                <a:gd fmla="val 3285" name="adj"/>
              </a:avLst>
            </a:prstGeom>
            <a:solidFill>
              <a:srgbClr val="1E293B">
                <a:alpha val="6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9"/>
            <p:cNvSpPr txBox="1"/>
            <p:nvPr/>
          </p:nvSpPr>
          <p:spPr>
            <a:xfrm>
              <a:off x="10858500" y="2286000"/>
              <a:ext cx="4067100" cy="40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200">
                  <a:solidFill>
                    <a:srgbClr val="10B981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03</a:t>
              </a:r>
              <a:endParaRPr b="0" sz="3200">
                <a:solidFill>
                  <a:srgbClr val="10B981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Salvando e Voltando</a:t>
              </a:r>
              <a:endParaRPr b="1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Faça as suas modificações com segurança na branch criada, salve as alterações e volte ao main quando precisar:</a:t>
              </a:r>
              <a:endParaRPr b="0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34D399"/>
                  </a:solidFill>
                  <a:highlight>
                    <a:srgbClr val="0F172A"/>
                  </a:highlight>
                  <a:latin typeface="Courier Prime"/>
                  <a:ea typeface="Courier Prime"/>
                  <a:cs typeface="Courier Prime"/>
                  <a:sym typeface="Courier Prime"/>
                </a:rPr>
                <a:t>git add .</a:t>
              </a:r>
              <a:endParaRPr/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34D399"/>
                  </a:solidFill>
                  <a:highlight>
                    <a:srgbClr val="0F172A"/>
                  </a:highlight>
                  <a:latin typeface="Courier Prime"/>
                  <a:ea typeface="Courier Prime"/>
                  <a:cs typeface="Courier Prime"/>
                  <a:sym typeface="Courier Prime"/>
                </a:rPr>
                <a:t>git commit -m "Adiciona menu"</a:t>
              </a:r>
              <a:endParaRPr/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# Altera e salva o histórico apenas na sua branch de desenvolvimento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34D399"/>
                  </a:solidFill>
                  <a:highlight>
                    <a:srgbClr val="0F172A"/>
                  </a:highlight>
                  <a:latin typeface="Courier Prime"/>
                  <a:ea typeface="Courier Prime"/>
                  <a:cs typeface="Courier Prime"/>
                  <a:sym typeface="Courier Prime"/>
                </a:rPr>
                <a:t>git checkout main</a:t>
              </a:r>
              <a:endParaRPr/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# Retorna para o branch principal sem nenhuma alteração indesejada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71" name="Google Shape;371;p29"/>
          <p:cNvGrpSpPr/>
          <p:nvPr/>
        </p:nvGrpSpPr>
        <p:grpSpPr>
          <a:xfrm>
            <a:off x="1047750" y="7048500"/>
            <a:ext cx="14163600" cy="1047900"/>
            <a:chOff x="1047750" y="7048500"/>
            <a:chExt cx="14163600" cy="1047900"/>
          </a:xfrm>
        </p:grpSpPr>
        <p:sp>
          <p:nvSpPr>
            <p:cNvPr id="372" name="Google Shape;372;p29"/>
            <p:cNvSpPr/>
            <p:nvPr/>
          </p:nvSpPr>
          <p:spPr>
            <a:xfrm>
              <a:off x="1047750" y="7048500"/>
              <a:ext cx="14163600" cy="1047900"/>
            </a:xfrm>
            <a:prstGeom prst="roundRect">
              <a:avLst>
                <a:gd fmla="val 10909" name="adj"/>
              </a:avLst>
            </a:prstGeom>
            <a:solidFill>
              <a:srgbClr val="1E293B">
                <a:alpha val="94999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9"/>
            <p:cNvSpPr txBox="1"/>
            <p:nvPr/>
          </p:nvSpPr>
          <p:spPr>
            <a:xfrm>
              <a:off x="1333500" y="7048500"/>
              <a:ext cx="135921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💡 Metáfora Visual</a:t>
              </a:r>
              <a:endParaRPr b="1" sz="1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Imagine a branch principal (main) como o tronco de uma árvore. Criar uma </a:t>
              </a:r>
              <a:r>
                <a:rPr b="0" lang="en-US" sz="1100">
                  <a:solidFill>
                    <a:srgbClr val="10B98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branch</a:t>
              </a:r>
              <a:r>
                <a:rPr b="0"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é puxar um galho para o lado: você pode pendurar folhas e flores nele à vontade. Se o galho ficar bom, você o conecta (merge) de volta ao tronco principal; se der errado, basta cortá-lo fora sem ferir o resto da árvore!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" name="Google Shape;378;p30"/>
          <p:cNvGrpSpPr/>
          <p:nvPr/>
        </p:nvGrpSpPr>
        <p:grpSpPr>
          <a:xfrm>
            <a:off x="1047750" y="571500"/>
            <a:ext cx="14097000" cy="1143000"/>
            <a:chOff x="1047750" y="571500"/>
            <a:chExt cx="14097000" cy="1143000"/>
          </a:xfrm>
        </p:grpSpPr>
        <p:sp>
          <p:nvSpPr>
            <p:cNvPr id="379" name="Google Shape;379;p30"/>
            <p:cNvSpPr txBox="1"/>
            <p:nvPr/>
          </p:nvSpPr>
          <p:spPr>
            <a:xfrm>
              <a:off x="1047750" y="571500"/>
              <a:ext cx="9525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6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Exercício Prático #1</a:t>
              </a:r>
              <a:endParaRPr b="0" sz="36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O caminho mais simples para entender o ciclo básico do Git</a:t>
              </a:r>
              <a:endParaRPr b="0" sz="16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80" name="Google Shape;380;p30"/>
            <p:cNvSpPr/>
            <p:nvPr/>
          </p:nvSpPr>
          <p:spPr>
            <a:xfrm>
              <a:off x="13239750" y="762000"/>
              <a:ext cx="1905000" cy="476400"/>
            </a:xfrm>
            <a:prstGeom prst="roundRect">
              <a:avLst>
                <a:gd fmla="val 50000" name="adj"/>
              </a:avLst>
            </a:prstGeom>
            <a:solidFill>
              <a:srgbClr val="1E293B"/>
            </a:solidFill>
            <a:ln cap="flat" cmpd="sng" w="1905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30"/>
            <p:cNvSpPr txBox="1"/>
            <p:nvPr/>
          </p:nvSpPr>
          <p:spPr>
            <a:xfrm>
              <a:off x="13239750" y="762000"/>
              <a:ext cx="1905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NÍVEL INICIANTE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82" name="Google Shape;382;p30"/>
          <p:cNvGrpSpPr/>
          <p:nvPr/>
        </p:nvGrpSpPr>
        <p:grpSpPr>
          <a:xfrm>
            <a:off x="1047750" y="2000250"/>
            <a:ext cx="4381500" cy="4667400"/>
            <a:chOff x="1047750" y="2000250"/>
            <a:chExt cx="4381500" cy="4667400"/>
          </a:xfrm>
        </p:grpSpPr>
        <p:sp>
          <p:nvSpPr>
            <p:cNvPr id="383" name="Google Shape;383;p30"/>
            <p:cNvSpPr/>
            <p:nvPr/>
          </p:nvSpPr>
          <p:spPr>
            <a:xfrm>
              <a:off x="1047750" y="2000250"/>
              <a:ext cx="4381500" cy="4667400"/>
            </a:xfrm>
            <a:prstGeom prst="roundRect">
              <a:avLst>
                <a:gd fmla="val 3478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30"/>
            <p:cNvSpPr txBox="1"/>
            <p:nvPr/>
          </p:nvSpPr>
          <p:spPr>
            <a:xfrm>
              <a:off x="1333500" y="2286000"/>
              <a:ext cx="3810000" cy="40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38BDF8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01</a:t>
              </a:r>
              <a:r>
                <a:rPr lang="en-US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lang="en-US" sz="1600">
                  <a:solidFill>
                    <a:srgbClr val="F1F5F9"/>
                  </a:solidFill>
                  <a:latin typeface="Inter"/>
                  <a:ea typeface="Inter"/>
                  <a:cs typeface="Inter"/>
                  <a:sym typeface="Inter"/>
                </a:rPr>
                <a:t>Iniciar o Repositório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Antes de tudo, você precisa dizer ao Git para começar a vigiar e registrar as alterações nesta pasta do seu computador.</a:t>
              </a:r>
              <a:endParaRPr b="0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34D399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git init</a:t>
              </a:r>
              <a:endParaRPr b="1" sz="1300">
                <a:solidFill>
                  <a:srgbClr val="34D399"/>
                </a:solidFill>
                <a:highlight>
                  <a:srgbClr val="0F172A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E2E8F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 que isso faz?</a:t>
              </a:r>
              <a:endParaRPr b="0" sz="1100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Cria uma pasta invisível que servirá como a "máquina do tempo" do seu projeto.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85" name="Google Shape;385;p30"/>
          <p:cNvGrpSpPr/>
          <p:nvPr/>
        </p:nvGrpSpPr>
        <p:grpSpPr>
          <a:xfrm>
            <a:off x="5905500" y="2000250"/>
            <a:ext cx="4381500" cy="4667400"/>
            <a:chOff x="5905500" y="2000250"/>
            <a:chExt cx="4381500" cy="4667400"/>
          </a:xfrm>
        </p:grpSpPr>
        <p:sp>
          <p:nvSpPr>
            <p:cNvPr id="386" name="Google Shape;386;p30"/>
            <p:cNvSpPr/>
            <p:nvPr/>
          </p:nvSpPr>
          <p:spPr>
            <a:xfrm>
              <a:off x="5905500" y="2000250"/>
              <a:ext cx="4381500" cy="4667400"/>
            </a:xfrm>
            <a:prstGeom prst="roundRect">
              <a:avLst>
                <a:gd fmla="val 3478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30"/>
            <p:cNvSpPr txBox="1"/>
            <p:nvPr/>
          </p:nvSpPr>
          <p:spPr>
            <a:xfrm>
              <a:off x="6191250" y="2286000"/>
              <a:ext cx="3810000" cy="40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FBBF24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02</a:t>
              </a:r>
              <a:r>
                <a:rPr lang="en-US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lang="en-US" sz="1600">
                  <a:solidFill>
                    <a:srgbClr val="F1F5F9"/>
                  </a:solidFill>
                  <a:latin typeface="Inter"/>
                  <a:ea typeface="Inter"/>
                  <a:cs typeface="Inter"/>
                  <a:sym typeface="Inter"/>
                </a:rPr>
                <a:t>Preparar Arquivos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Crie qualquer arquivo (ex: </a:t>
              </a:r>
              <a:r>
                <a:rPr b="0" lang="en-US" sz="1200">
                  <a:solidFill>
                    <a:srgbClr val="FBBF24"/>
                  </a:solidFill>
                  <a:latin typeface="Arial"/>
                  <a:ea typeface="Arial"/>
                  <a:cs typeface="Arial"/>
                  <a:sym typeface="Arial"/>
                </a:rPr>
                <a:t>notas.txt</a:t>
              </a:r>
              <a:r>
                <a:rPr b="0" lang="en-US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) e coloque-o na "lista de espera" para que o Git saiba que ele deve ser salvo.</a:t>
              </a:r>
              <a:endParaRPr b="0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34D399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git add notas.txt</a:t>
              </a:r>
              <a:endParaRPr b="1" sz="1300">
                <a:solidFill>
                  <a:srgbClr val="34D399"/>
                </a:solidFill>
                <a:highlight>
                  <a:srgbClr val="0F172A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E2E8F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 que isso faz?</a:t>
              </a:r>
              <a:endParaRPr b="0" sz="1100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Leva o arquivo para a Área de Preparação (Staging). É como posicionar as pessoas para a foto.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88" name="Google Shape;388;p30"/>
          <p:cNvGrpSpPr/>
          <p:nvPr/>
        </p:nvGrpSpPr>
        <p:grpSpPr>
          <a:xfrm>
            <a:off x="10763250" y="2000250"/>
            <a:ext cx="4381500" cy="4667400"/>
            <a:chOff x="10763250" y="2000250"/>
            <a:chExt cx="4381500" cy="4667400"/>
          </a:xfrm>
        </p:grpSpPr>
        <p:sp>
          <p:nvSpPr>
            <p:cNvPr id="389" name="Google Shape;389;p30"/>
            <p:cNvSpPr/>
            <p:nvPr/>
          </p:nvSpPr>
          <p:spPr>
            <a:xfrm>
              <a:off x="10763250" y="2000250"/>
              <a:ext cx="4381500" cy="4667400"/>
            </a:xfrm>
            <a:prstGeom prst="roundRect">
              <a:avLst>
                <a:gd fmla="val 3478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30"/>
            <p:cNvSpPr txBox="1"/>
            <p:nvPr/>
          </p:nvSpPr>
          <p:spPr>
            <a:xfrm>
              <a:off x="11049000" y="2286000"/>
              <a:ext cx="3810000" cy="40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34D399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03</a:t>
              </a:r>
              <a:r>
                <a:rPr lang="en-US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lang="en-US" sz="1600">
                  <a:solidFill>
                    <a:srgbClr val="F1F5F9"/>
                  </a:solidFill>
                  <a:latin typeface="Inter"/>
                  <a:ea typeface="Inter"/>
                  <a:cs typeface="Inter"/>
                  <a:sym typeface="Inter"/>
                </a:rPr>
                <a:t>Salvar o Histórico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Agora, salve permanentemente esse estado do projeto com uma mensagem simples que explique o que você fez.</a:t>
              </a:r>
              <a:endParaRPr b="0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34D399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git commit -m "meu primeiro passo"</a:t>
              </a:r>
              <a:endParaRPr b="1" sz="1300">
                <a:solidFill>
                  <a:srgbClr val="34D399"/>
                </a:solidFill>
                <a:highlight>
                  <a:srgbClr val="0F172A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E2E8F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 que isso faz?</a:t>
              </a:r>
              <a:endParaRPr b="0" sz="1100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Salva a versão atual do projeto com um rótulo explicativo. Você poderá voltar aqui quando quiser!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91" name="Google Shape;391;p30"/>
          <p:cNvGrpSpPr/>
          <p:nvPr/>
        </p:nvGrpSpPr>
        <p:grpSpPr>
          <a:xfrm>
            <a:off x="1047750" y="7048500"/>
            <a:ext cx="14097000" cy="1047900"/>
            <a:chOff x="1047750" y="7048500"/>
            <a:chExt cx="14097000" cy="1047900"/>
          </a:xfrm>
        </p:grpSpPr>
        <p:sp>
          <p:nvSpPr>
            <p:cNvPr id="392" name="Google Shape;392;p30"/>
            <p:cNvSpPr/>
            <p:nvPr/>
          </p:nvSpPr>
          <p:spPr>
            <a:xfrm>
              <a:off x="1047750" y="7048500"/>
              <a:ext cx="14097000" cy="1047900"/>
            </a:xfrm>
            <a:prstGeom prst="roundRect">
              <a:avLst>
                <a:gd fmla="val 10909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30"/>
            <p:cNvSpPr txBox="1"/>
            <p:nvPr/>
          </p:nvSpPr>
          <p:spPr>
            <a:xfrm>
              <a:off x="1333500" y="7048500"/>
              <a:ext cx="13525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38BDF8"/>
                  </a:solidFill>
                  <a:highlight>
                    <a:srgbClr val="1E3A8A"/>
                  </a:highlight>
                  <a:latin typeface="Inter"/>
                  <a:ea typeface="Inter"/>
                  <a:cs typeface="Inter"/>
                  <a:sym typeface="Inter"/>
                </a:rPr>
                <a:t>i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1F5F9"/>
                  </a:solidFill>
                  <a:latin typeface="Inter"/>
                  <a:ea typeface="Inter"/>
                  <a:cs typeface="Inter"/>
                  <a:sym typeface="Inter"/>
                </a:rPr>
                <a:t>Dica para Iniciantes</a:t>
              </a:r>
              <a:endParaRPr b="1" sz="13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Você não precisa decorar tudo agora! O fluxo básico que você usará 90% do tempo é apenas criar/modificar arquivos, dar </a:t>
              </a:r>
              <a:r>
                <a:rPr b="1" lang="en-US" sz="1100">
                  <a:solidFill>
                    <a:srgbClr val="34D399"/>
                  </a:solidFill>
                  <a:latin typeface="Arial"/>
                  <a:ea typeface="Arial"/>
                  <a:cs typeface="Arial"/>
                  <a:sym typeface="Arial"/>
                </a:rPr>
                <a:t>git add</a:t>
              </a:r>
              <a:r>
                <a:rPr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e depois </a:t>
              </a:r>
              <a:r>
                <a:rPr b="1" lang="en-US" sz="1100">
                  <a:solidFill>
                    <a:srgbClr val="34D399"/>
                  </a:solidFill>
                  <a:latin typeface="Arial"/>
                  <a:ea typeface="Arial"/>
                  <a:cs typeface="Arial"/>
                  <a:sym typeface="Arial"/>
                </a:rPr>
                <a:t>git commit</a:t>
              </a:r>
              <a:r>
                <a:rPr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8" name="Google Shape;398;p31"/>
          <p:cNvGrpSpPr/>
          <p:nvPr/>
        </p:nvGrpSpPr>
        <p:grpSpPr>
          <a:xfrm>
            <a:off x="0" y="0"/>
            <a:ext cx="16259100" cy="9144000"/>
            <a:chOff x="0" y="0"/>
            <a:chExt cx="16259100" cy="9144000"/>
          </a:xfrm>
        </p:grpSpPr>
        <p:pic>
          <p:nvPicPr>
            <p:cNvPr id="399" name="Google Shape;399;p31"/>
            <p:cNvPicPr preferRelativeResize="0"/>
            <p:nvPr/>
          </p:nvPicPr>
          <p:blipFill rotWithShape="1">
            <a:blip r:embed="rId4">
              <a:alphaModFix amt="35000"/>
            </a:blip>
            <a:srcRect b="0" l="0" r="0" t="0"/>
            <a:stretch/>
          </p:blipFill>
          <p:spPr>
            <a:xfrm>
              <a:off x="0" y="0"/>
              <a:ext cx="16259100" cy="9144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0" name="Google Shape;400;p31"/>
            <p:cNvSpPr/>
            <p:nvPr/>
          </p:nvSpPr>
          <p:spPr>
            <a:xfrm>
              <a:off x="0" y="0"/>
              <a:ext cx="16259100" cy="9144000"/>
            </a:xfrm>
            <a:prstGeom prst="rect">
              <a:avLst/>
            </a:prstGeom>
            <a:solidFill>
              <a:srgbClr val="0B132B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1" name="Google Shape;401;p31"/>
          <p:cNvGrpSpPr/>
          <p:nvPr/>
        </p:nvGrpSpPr>
        <p:grpSpPr>
          <a:xfrm>
            <a:off x="1047750" y="571500"/>
            <a:ext cx="14097000" cy="1143000"/>
            <a:chOff x="1047750" y="571500"/>
            <a:chExt cx="14097000" cy="1143000"/>
          </a:xfrm>
        </p:grpSpPr>
        <p:sp>
          <p:nvSpPr>
            <p:cNvPr id="402" name="Google Shape;402;p31"/>
            <p:cNvSpPr txBox="1"/>
            <p:nvPr/>
          </p:nvSpPr>
          <p:spPr>
            <a:xfrm>
              <a:off x="1047750" y="571500"/>
              <a:ext cx="9525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6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Exercício Prático #2</a:t>
              </a:r>
              <a:endParaRPr b="0" sz="36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Trabalhando com repositórios remotos e colaboração</a:t>
              </a:r>
              <a:endParaRPr b="0" sz="16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03" name="Google Shape;403;p31"/>
            <p:cNvSpPr/>
            <p:nvPr/>
          </p:nvSpPr>
          <p:spPr>
            <a:xfrm>
              <a:off x="13239750" y="762000"/>
              <a:ext cx="1905000" cy="476400"/>
            </a:xfrm>
            <a:prstGeom prst="roundRect">
              <a:avLst>
                <a:gd fmla="val 50000" name="adj"/>
              </a:avLst>
            </a:prstGeom>
            <a:solidFill>
              <a:srgbClr val="1E293B"/>
            </a:solidFill>
            <a:ln cap="flat" cmpd="sng" w="1905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31"/>
            <p:cNvSpPr txBox="1"/>
            <p:nvPr/>
          </p:nvSpPr>
          <p:spPr>
            <a:xfrm>
              <a:off x="13239750" y="762000"/>
              <a:ext cx="1905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NÍVEL INTERMEDIÁRIO</a:t>
              </a:r>
              <a:endParaRPr b="1" sz="12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05" name="Google Shape;405;p31"/>
          <p:cNvGrpSpPr/>
          <p:nvPr/>
        </p:nvGrpSpPr>
        <p:grpSpPr>
          <a:xfrm>
            <a:off x="1047750" y="2000250"/>
            <a:ext cx="4381500" cy="4667400"/>
            <a:chOff x="1047750" y="2000250"/>
            <a:chExt cx="4381500" cy="4667400"/>
          </a:xfrm>
        </p:grpSpPr>
        <p:sp>
          <p:nvSpPr>
            <p:cNvPr id="406" name="Google Shape;406;p31"/>
            <p:cNvSpPr/>
            <p:nvPr/>
          </p:nvSpPr>
          <p:spPr>
            <a:xfrm>
              <a:off x="1047750" y="2000250"/>
              <a:ext cx="4381500" cy="4667400"/>
            </a:xfrm>
            <a:prstGeom prst="roundRect">
              <a:avLst>
                <a:gd fmla="val 3478" name="adj"/>
              </a:avLst>
            </a:prstGeom>
            <a:solidFill>
              <a:srgbClr val="1E293B">
                <a:alpha val="85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31"/>
            <p:cNvSpPr txBox="1"/>
            <p:nvPr/>
          </p:nvSpPr>
          <p:spPr>
            <a:xfrm>
              <a:off x="1333500" y="2286000"/>
              <a:ext cx="3810000" cy="40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38BDF8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01 </a:t>
              </a:r>
              <a:r>
                <a:rPr b="1" lang="en-US" sz="1600">
                  <a:solidFill>
                    <a:srgbClr val="F1F5F9"/>
                  </a:solidFill>
                  <a:latin typeface="Inter"/>
                  <a:ea typeface="Inter"/>
                  <a:cs typeface="Inter"/>
                  <a:sym typeface="Inter"/>
                </a:rPr>
                <a:t>Clonar o Projeto</a:t>
              </a:r>
              <a:endParaRPr b="0" sz="2800">
                <a:solidFill>
                  <a:srgbClr val="38BDF8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Baixe uma cópia completa do repositório remoto para começar a trabalhar localmente na sua máquina de forma rápida.</a:t>
              </a:r>
              <a:endParaRPr b="0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34D399"/>
                  </a:solidFill>
                  <a:highlight>
                    <a:srgbClr val="0F172A"/>
                  </a:highlight>
                  <a:latin typeface="Courier Prime"/>
                  <a:ea typeface="Courier Prime"/>
                  <a:cs typeface="Courier Prime"/>
                  <a:sym typeface="Courier Prime"/>
                </a:rPr>
                <a:t>git clone [url-do-repositorio]</a:t>
              </a:r>
              <a:endParaRPr/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E2E8F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 que isso faz?</a:t>
              </a:r>
              <a:endParaRPr b="0" sz="1100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Cria uma pasta local idêntica ao projeto original remoto, incluindo todo o histórico de alterações.</a:t>
              </a:r>
              <a:endParaRPr b="0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08" name="Google Shape;408;p31"/>
          <p:cNvGrpSpPr/>
          <p:nvPr/>
        </p:nvGrpSpPr>
        <p:grpSpPr>
          <a:xfrm>
            <a:off x="5905500" y="2000250"/>
            <a:ext cx="4381500" cy="4667400"/>
            <a:chOff x="5905500" y="2000250"/>
            <a:chExt cx="4381500" cy="4667400"/>
          </a:xfrm>
        </p:grpSpPr>
        <p:sp>
          <p:nvSpPr>
            <p:cNvPr id="409" name="Google Shape;409;p31"/>
            <p:cNvSpPr/>
            <p:nvPr/>
          </p:nvSpPr>
          <p:spPr>
            <a:xfrm>
              <a:off x="5905500" y="2000250"/>
              <a:ext cx="4381500" cy="4667400"/>
            </a:xfrm>
            <a:prstGeom prst="roundRect">
              <a:avLst>
                <a:gd fmla="val 3478" name="adj"/>
              </a:avLst>
            </a:prstGeom>
            <a:solidFill>
              <a:srgbClr val="1E293B">
                <a:alpha val="85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31"/>
            <p:cNvSpPr txBox="1"/>
            <p:nvPr/>
          </p:nvSpPr>
          <p:spPr>
            <a:xfrm>
              <a:off x="6191250" y="2286000"/>
              <a:ext cx="3810000" cy="40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FBBF24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02 </a:t>
              </a:r>
              <a:r>
                <a:rPr b="1" lang="en-US" sz="1600">
                  <a:solidFill>
                    <a:srgbClr val="F1F5F9"/>
                  </a:solidFill>
                  <a:latin typeface="Inter"/>
                  <a:ea typeface="Inter"/>
                  <a:cs typeface="Inter"/>
                  <a:sym typeface="Inter"/>
                </a:rPr>
                <a:t>Buscar Novidades</a:t>
              </a:r>
              <a:endParaRPr b="0" sz="2800">
                <a:solidFill>
                  <a:srgbClr val="FBBF24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Sincronize sua cópia de trabalho com qualquer nova atualização que seus colegas já tenham enviado para o servidor.</a:t>
              </a:r>
              <a:endParaRPr b="0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34D399"/>
                  </a:solidFill>
                  <a:highlight>
                    <a:srgbClr val="0F172A"/>
                  </a:highlight>
                  <a:latin typeface="Courier Prime"/>
                  <a:ea typeface="Courier Prime"/>
                  <a:cs typeface="Courier Prime"/>
                  <a:sym typeface="Courier Prime"/>
                </a:rPr>
                <a:t>git pull origin main</a:t>
              </a:r>
              <a:endParaRPr/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E2E8F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 que isso faz?</a:t>
              </a:r>
              <a:endParaRPr b="0" sz="1100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Baixa novas modificações do remoto e as mescla imediatamente com o seu código local atual.</a:t>
              </a:r>
              <a:endParaRPr b="0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11" name="Google Shape;411;p31"/>
          <p:cNvGrpSpPr/>
          <p:nvPr/>
        </p:nvGrpSpPr>
        <p:grpSpPr>
          <a:xfrm>
            <a:off x="10763250" y="2000250"/>
            <a:ext cx="4381500" cy="4667400"/>
            <a:chOff x="10763250" y="2000250"/>
            <a:chExt cx="4381500" cy="4667400"/>
          </a:xfrm>
        </p:grpSpPr>
        <p:sp>
          <p:nvSpPr>
            <p:cNvPr id="412" name="Google Shape;412;p31"/>
            <p:cNvSpPr/>
            <p:nvPr/>
          </p:nvSpPr>
          <p:spPr>
            <a:xfrm>
              <a:off x="10763250" y="2000250"/>
              <a:ext cx="4381500" cy="4667400"/>
            </a:xfrm>
            <a:prstGeom prst="roundRect">
              <a:avLst>
                <a:gd fmla="val 3478" name="adj"/>
              </a:avLst>
            </a:prstGeom>
            <a:solidFill>
              <a:srgbClr val="1E293B">
                <a:alpha val="85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31"/>
            <p:cNvSpPr txBox="1"/>
            <p:nvPr/>
          </p:nvSpPr>
          <p:spPr>
            <a:xfrm>
              <a:off x="11049000" y="2286000"/>
              <a:ext cx="3810000" cy="40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34D399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03 </a:t>
              </a:r>
              <a:r>
                <a:rPr b="1" lang="en-US" sz="1600">
                  <a:solidFill>
                    <a:srgbClr val="F1F5F9"/>
                  </a:solidFill>
                  <a:latin typeface="Inter"/>
                  <a:ea typeface="Inter"/>
                  <a:cs typeface="Inter"/>
                  <a:sym typeface="Inter"/>
                </a:rPr>
                <a:t>Enviar para a Nuvem</a:t>
              </a:r>
              <a:endParaRPr b="0" sz="2800">
                <a:solidFill>
                  <a:srgbClr val="34D399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Após salvar suas alterações locais com add/commit, envie suas fotos (versões) de volta para o repositório compartilhado.</a:t>
              </a:r>
              <a:endParaRPr b="0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34D399"/>
                  </a:solidFill>
                  <a:highlight>
                    <a:srgbClr val="0F172A"/>
                  </a:highlight>
                  <a:latin typeface="Courier Prime"/>
                  <a:ea typeface="Courier Prime"/>
                  <a:cs typeface="Courier Prime"/>
                  <a:sym typeface="Courier Prime"/>
                </a:rPr>
                <a:t>git push origin main</a:t>
              </a:r>
              <a:endParaRPr/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E2E8F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 que isso faz?</a:t>
              </a:r>
              <a:endParaRPr b="0" sz="1100">
                <a:solidFill>
                  <a:srgbClr val="E2E8F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Sobe seus novos commits locais organizados para o servidor, permitindo que a equipe veja seu progresso.</a:t>
              </a:r>
              <a:endParaRPr b="0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14" name="Google Shape;414;p31"/>
          <p:cNvGrpSpPr/>
          <p:nvPr/>
        </p:nvGrpSpPr>
        <p:grpSpPr>
          <a:xfrm>
            <a:off x="1047750" y="7048500"/>
            <a:ext cx="14097000" cy="1047900"/>
            <a:chOff x="1047750" y="7048500"/>
            <a:chExt cx="14097000" cy="1047900"/>
          </a:xfrm>
        </p:grpSpPr>
        <p:sp>
          <p:nvSpPr>
            <p:cNvPr id="415" name="Google Shape;415;p31"/>
            <p:cNvSpPr/>
            <p:nvPr/>
          </p:nvSpPr>
          <p:spPr>
            <a:xfrm>
              <a:off x="1047750" y="7048500"/>
              <a:ext cx="14097000" cy="1047900"/>
            </a:xfrm>
            <a:prstGeom prst="roundRect">
              <a:avLst>
                <a:gd fmla="val 10909" name="adj"/>
              </a:avLst>
            </a:prstGeom>
            <a:solidFill>
              <a:srgbClr val="1E293B">
                <a:alpha val="94999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31"/>
            <p:cNvSpPr txBox="1"/>
            <p:nvPr/>
          </p:nvSpPr>
          <p:spPr>
            <a:xfrm>
              <a:off x="1333500" y="7048500"/>
              <a:ext cx="13525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1F5F9"/>
                  </a:solidFill>
                  <a:latin typeface="Inter"/>
                  <a:ea typeface="Inter"/>
                  <a:cs typeface="Inter"/>
                  <a:sym typeface="Inter"/>
                </a:rPr>
                <a:t>💡 Dica de Colaboração</a:t>
              </a:r>
              <a:endParaRPr b="1" sz="13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Sempre execute um </a:t>
              </a:r>
              <a:r>
                <a:rPr b="1" lang="en-US" sz="1100">
                  <a:solidFill>
                    <a:srgbClr val="34D399"/>
                  </a:solidFill>
                  <a:latin typeface="Inter"/>
                  <a:ea typeface="Inter"/>
                  <a:cs typeface="Inter"/>
                  <a:sym typeface="Inter"/>
                </a:rPr>
                <a:t>git pull</a:t>
              </a:r>
              <a:r>
                <a:rPr b="0"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antes de começar a codar e antes de dar um </a:t>
              </a:r>
              <a:r>
                <a:rPr b="1" lang="en-US" sz="1100">
                  <a:solidFill>
                    <a:srgbClr val="34D399"/>
                  </a:solidFill>
                  <a:latin typeface="Inter"/>
                  <a:ea typeface="Inter"/>
                  <a:cs typeface="Inter"/>
                  <a:sym typeface="Inter"/>
                </a:rPr>
                <a:t>git push</a:t>
              </a:r>
              <a:r>
                <a:rPr b="0"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! Isso evita conflitos irritantes e garante que você esteja sempre trabalhando em cima da última versão estável da equipe.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259100" cy="914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2" name="Google Shape;422;p32"/>
          <p:cNvGrpSpPr/>
          <p:nvPr/>
        </p:nvGrpSpPr>
        <p:grpSpPr>
          <a:xfrm>
            <a:off x="762000" y="523875"/>
            <a:ext cx="14735100" cy="1428750"/>
            <a:chOff x="762000" y="523875"/>
            <a:chExt cx="14735100" cy="1428750"/>
          </a:xfrm>
        </p:grpSpPr>
        <p:sp>
          <p:nvSpPr>
            <p:cNvPr id="423" name="Google Shape;423;p32"/>
            <p:cNvSpPr txBox="1"/>
            <p:nvPr/>
          </p:nvSpPr>
          <p:spPr>
            <a:xfrm>
              <a:off x="762000" y="523875"/>
              <a:ext cx="14735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MÓDULO 3: O ARSENAL DO DESENVOLVEDOR (PIP)</a:t>
              </a:r>
              <a:endParaRPr b="1" sz="12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24" name="Google Shape;424;p32"/>
            <p:cNvSpPr txBox="1"/>
            <p:nvPr/>
          </p:nvSpPr>
          <p:spPr>
            <a:xfrm>
              <a:off x="762000" y="857250"/>
              <a:ext cx="147351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 que é o PIP?</a:t>
              </a:r>
              <a:endParaRPr b="1" sz="3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32"/>
            <p:cNvSpPr txBox="1"/>
            <p:nvPr/>
          </p:nvSpPr>
          <p:spPr>
            <a:xfrm>
              <a:off x="762000" y="1571625"/>
              <a:ext cx="14735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A0AEC0"/>
                  </a:solidFill>
                  <a:latin typeface="Arial"/>
                  <a:ea typeface="Arial"/>
                  <a:cs typeface="Arial"/>
                  <a:sym typeface="Arial"/>
                </a:rPr>
                <a:t>O instalador oficial de pacotes do Python que conecta seu terminal a milhares de bibliotecas prontas.</a:t>
              </a:r>
              <a:endParaRPr b="0" sz="160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6" name="Google Shape;426;p32"/>
          <p:cNvGrpSpPr/>
          <p:nvPr/>
        </p:nvGrpSpPr>
        <p:grpSpPr>
          <a:xfrm>
            <a:off x="762000" y="2286000"/>
            <a:ext cx="14735100" cy="4286400"/>
            <a:chOff x="762000" y="2286000"/>
            <a:chExt cx="14735100" cy="4286400"/>
          </a:xfrm>
        </p:grpSpPr>
        <p:grpSp>
          <p:nvGrpSpPr>
            <p:cNvPr id="427" name="Google Shape;427;p32"/>
            <p:cNvGrpSpPr/>
            <p:nvPr/>
          </p:nvGrpSpPr>
          <p:grpSpPr>
            <a:xfrm>
              <a:off x="762000" y="2286000"/>
              <a:ext cx="4572000" cy="4286400"/>
              <a:chOff x="762000" y="2286000"/>
              <a:chExt cx="4572000" cy="4286400"/>
            </a:xfrm>
          </p:grpSpPr>
          <p:sp>
            <p:nvSpPr>
              <p:cNvPr id="428" name="Google Shape;428;p32"/>
              <p:cNvSpPr/>
              <p:nvPr/>
            </p:nvSpPr>
            <p:spPr>
              <a:xfrm>
                <a:off x="762000" y="2286000"/>
                <a:ext cx="4572000" cy="4286400"/>
              </a:xfrm>
              <a:prstGeom prst="roundRect">
                <a:avLst>
                  <a:gd fmla="val 3555" name="adj"/>
                </a:avLst>
              </a:prstGeom>
              <a:solidFill>
                <a:srgbClr val="2D3748">
                  <a:alpha val="40000"/>
                </a:srgbClr>
              </a:solidFill>
              <a:ln cap="flat" cmpd="sng" w="14300">
                <a:solidFill>
                  <a:srgbClr val="4A556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" name="Google Shape;429;p32"/>
              <p:cNvSpPr txBox="1"/>
              <p:nvPr/>
            </p:nvSpPr>
            <p:spPr>
              <a:xfrm>
                <a:off x="1143000" y="2667000"/>
                <a:ext cx="3810000" cy="352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10B981"/>
                    </a:solidFill>
                    <a:latin typeface="Arial"/>
                    <a:ea typeface="Arial"/>
                    <a:cs typeface="Arial"/>
                    <a:sym typeface="Arial"/>
                  </a:rPr>
                  <a:t>O Gerenciador de Pacotes</a:t>
                </a:r>
                <a:endParaRPr b="1" sz="18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b="0" lang="en-US" sz="1700">
                    <a:solidFill>
                      <a:srgbClr val="CBD5E0"/>
                    </a:solidFill>
                    <a:latin typeface="Arial"/>
                    <a:ea typeface="Arial"/>
                    <a:cs typeface="Arial"/>
                    <a:sym typeface="Arial"/>
                  </a:rPr>
                  <a:t>O PIP funciona como a </a:t>
                </a:r>
                <a:r>
                  <a:rPr b="1" lang="en-US" sz="17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App Store dos desenvolvedores Python</a:t>
                </a:r>
                <a:r>
                  <a:rPr b="0" lang="en-US" sz="1700">
                    <a:solidFill>
                      <a:srgbClr val="CBD5E0"/>
                    </a:solidFill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  <a:endParaRPr b="0" sz="1700">
                  <a:solidFill>
                    <a:srgbClr val="CBD5E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b="0" lang="en-US" sz="1700">
                    <a:solidFill>
                      <a:srgbClr val="CBD5E0"/>
                    </a:solidFill>
                    <a:latin typeface="Arial"/>
                    <a:ea typeface="Arial"/>
                    <a:cs typeface="Arial"/>
                    <a:sym typeface="Arial"/>
                  </a:rPr>
                  <a:t>Ele automatiza o download, instalação e atualização de bibliotecas externas hospedadas no </a:t>
                </a:r>
                <a:r>
                  <a:rPr b="1" lang="en-US" sz="17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PyPI</a:t>
                </a:r>
                <a:r>
                  <a:rPr b="0" lang="en-US" sz="1700">
                    <a:solidFill>
                      <a:srgbClr val="CBD5E0"/>
                    </a:solidFill>
                    <a:latin typeface="Arial"/>
                    <a:ea typeface="Arial"/>
                    <a:cs typeface="Arial"/>
                    <a:sym typeface="Arial"/>
                  </a:rPr>
                  <a:t> (Python Package Index), evitando que você precise baixar e configurar códigos manualmente.</a:t>
                </a:r>
                <a:endParaRPr b="0" sz="1700">
                  <a:solidFill>
                    <a:srgbClr val="CBD5E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0" name="Google Shape;430;p32"/>
            <p:cNvGrpSpPr/>
            <p:nvPr/>
          </p:nvGrpSpPr>
          <p:grpSpPr>
            <a:xfrm>
              <a:off x="5619750" y="2286000"/>
              <a:ext cx="4572000" cy="4286400"/>
              <a:chOff x="5619750" y="2286000"/>
              <a:chExt cx="4572000" cy="4286400"/>
            </a:xfrm>
          </p:grpSpPr>
          <p:sp>
            <p:nvSpPr>
              <p:cNvPr id="431" name="Google Shape;431;p32"/>
              <p:cNvSpPr/>
              <p:nvPr/>
            </p:nvSpPr>
            <p:spPr>
              <a:xfrm>
                <a:off x="5619750" y="2286000"/>
                <a:ext cx="4572000" cy="4286400"/>
              </a:xfrm>
              <a:prstGeom prst="roundRect">
                <a:avLst>
                  <a:gd fmla="val 3555" name="adj"/>
                </a:avLst>
              </a:prstGeom>
              <a:solidFill>
                <a:srgbClr val="2D3748">
                  <a:alpha val="40000"/>
                </a:srgbClr>
              </a:solidFill>
              <a:ln cap="flat" cmpd="sng" w="14300">
                <a:solidFill>
                  <a:srgbClr val="4A556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32"/>
              <p:cNvSpPr txBox="1"/>
              <p:nvPr/>
            </p:nvSpPr>
            <p:spPr>
              <a:xfrm>
                <a:off x="6000750" y="2667000"/>
                <a:ext cx="4191000" cy="372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10B981"/>
                    </a:solidFill>
                    <a:latin typeface="Arial"/>
                    <a:ea typeface="Arial"/>
                    <a:cs typeface="Arial"/>
                    <a:sym typeface="Arial"/>
                  </a:rPr>
                  <a:t>Como Ele Funciona?</a:t>
                </a:r>
                <a:endParaRPr b="1" sz="18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b="0" lang="en-US" sz="1700">
                    <a:solidFill>
                      <a:srgbClr val="CBD5E0"/>
                    </a:solidFill>
                    <a:latin typeface="Arial"/>
                    <a:ea typeface="Arial"/>
                    <a:cs typeface="Arial"/>
                    <a:sym typeface="Arial"/>
                  </a:rPr>
                  <a:t>Através de comandos extremamente simples e diretos no terminal do seu sistema operacional:</a:t>
                </a:r>
                <a:endParaRPr b="0" sz="1700">
                  <a:solidFill>
                    <a:srgbClr val="CBD5E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-336550" lvl="0" marL="457200" rtl="0" algn="l">
                  <a:spcBef>
                    <a:spcPts val="1125"/>
                  </a:spcBef>
                  <a:spcAft>
                    <a:spcPts val="0"/>
                  </a:spcAft>
                  <a:buClr>
                    <a:srgbClr val="CBD5E0"/>
                  </a:buClr>
                  <a:buSzPts val="1700"/>
                  <a:buFont typeface="Arial"/>
                  <a:buChar char="●"/>
                </a:pPr>
                <a:r>
                  <a:rPr b="1" lang="en-US" sz="17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Instalar:</a:t>
                </a:r>
                <a:r>
                  <a:rPr b="0" lang="en-US" sz="1700">
                    <a:solidFill>
                      <a:srgbClr val="CBD5E0"/>
                    </a:solidFill>
                    <a:latin typeface="Arial"/>
                    <a:ea typeface="Arial"/>
                    <a:cs typeface="Arial"/>
                    <a:sym typeface="Arial"/>
                  </a:rPr>
                  <a:t> Digite </a:t>
                </a:r>
                <a:r>
                  <a:rPr b="1" lang="en-US" sz="1700">
                    <a:solidFill>
                      <a:srgbClr val="10B981"/>
                    </a:solidFill>
                    <a:highlight>
                      <a:srgbClr val="1E293B"/>
                    </a:highlight>
                    <a:latin typeface="Courier New"/>
                    <a:ea typeface="Courier New"/>
                    <a:cs typeface="Courier New"/>
                    <a:sym typeface="Courier New"/>
                  </a:rPr>
                  <a:t>pip install nome</a:t>
                </a:r>
                <a:r>
                  <a:rPr b="0" lang="en-US" sz="1700">
                    <a:solidFill>
                      <a:srgbClr val="CBD5E0"/>
                    </a:solidFill>
                    <a:latin typeface="Arial"/>
                    <a:ea typeface="Arial"/>
                    <a:cs typeface="Arial"/>
                    <a:sym typeface="Arial"/>
                  </a:rPr>
                  <a:t> para baixar qualquer módulo global.</a:t>
                </a:r>
                <a:endParaRPr b="0" sz="1700">
                  <a:solidFill>
                    <a:srgbClr val="CBD5E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-336550" lvl="0" marL="457200" rtl="0" algn="l">
                  <a:spcBef>
                    <a:spcPts val="900"/>
                  </a:spcBef>
                  <a:spcAft>
                    <a:spcPts val="0"/>
                  </a:spcAft>
                  <a:buClr>
                    <a:srgbClr val="CBD5E0"/>
                  </a:buClr>
                  <a:buSzPts val="1700"/>
                  <a:buFont typeface="Arial"/>
                  <a:buChar char="●"/>
                </a:pPr>
                <a:r>
                  <a:rPr b="1" lang="en-US" sz="17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Desinstalar:</a:t>
                </a:r>
                <a:r>
                  <a:rPr b="0" lang="en-US" sz="1700">
                    <a:solidFill>
                      <a:srgbClr val="CBD5E0"/>
                    </a:solidFill>
                    <a:latin typeface="Arial"/>
                    <a:ea typeface="Arial"/>
                    <a:cs typeface="Arial"/>
                    <a:sym typeface="Arial"/>
                  </a:rPr>
                  <a:t> Remova bibliotecas obsoletas com </a:t>
                </a:r>
                <a:r>
                  <a:rPr b="1" lang="en-US" sz="1700">
                    <a:solidFill>
                      <a:srgbClr val="10B981"/>
                    </a:solidFill>
                    <a:highlight>
                      <a:srgbClr val="1E293B"/>
                    </a:highlight>
                    <a:latin typeface="Courier New"/>
                    <a:ea typeface="Courier New"/>
                    <a:cs typeface="Courier New"/>
                    <a:sym typeface="Courier New"/>
                  </a:rPr>
                  <a:t>pip uninstall</a:t>
                </a:r>
                <a:r>
                  <a:rPr b="0" lang="en-US" sz="1700">
                    <a:solidFill>
                      <a:srgbClr val="CBD5E0"/>
                    </a:solidFill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  <a:endParaRPr b="0" sz="1700">
                  <a:solidFill>
                    <a:srgbClr val="CBD5E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-336550" lvl="0" marL="457200" rtl="0" algn="l">
                  <a:spcBef>
                    <a:spcPts val="900"/>
                  </a:spcBef>
                  <a:spcAft>
                    <a:spcPts val="0"/>
                  </a:spcAft>
                  <a:buClr>
                    <a:srgbClr val="CBD5E0"/>
                  </a:buClr>
                  <a:buSzPts val="1700"/>
                  <a:buFont typeface="Arial"/>
                  <a:buChar char="●"/>
                </a:pPr>
                <a:r>
                  <a:rPr b="1" lang="en-US" sz="17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Listar:</a:t>
                </a:r>
                <a:r>
                  <a:rPr b="0" lang="en-US" sz="1700">
                    <a:solidFill>
                      <a:srgbClr val="CBD5E0"/>
                    </a:solidFill>
                    <a:latin typeface="Arial"/>
                    <a:ea typeface="Arial"/>
                    <a:cs typeface="Arial"/>
                    <a:sym typeface="Arial"/>
                  </a:rPr>
                  <a:t> Veja tudo o que tem instalado usando o comando </a:t>
                </a:r>
                <a:r>
                  <a:rPr b="1" lang="en-US" sz="1700">
                    <a:solidFill>
                      <a:srgbClr val="10B981"/>
                    </a:solidFill>
                    <a:highlight>
                      <a:srgbClr val="1E293B"/>
                    </a:highlight>
                    <a:latin typeface="Courier New"/>
                    <a:ea typeface="Courier New"/>
                    <a:cs typeface="Courier New"/>
                    <a:sym typeface="Courier New"/>
                  </a:rPr>
                  <a:t>pip list</a:t>
                </a:r>
                <a:r>
                  <a:rPr b="0" lang="en-US" sz="1700">
                    <a:solidFill>
                      <a:srgbClr val="CBD5E0"/>
                    </a:solidFill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  <a:endParaRPr b="0" sz="1700">
                  <a:solidFill>
                    <a:srgbClr val="CBD5E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3" name="Google Shape;433;p32"/>
            <p:cNvGrpSpPr/>
            <p:nvPr/>
          </p:nvGrpSpPr>
          <p:grpSpPr>
            <a:xfrm>
              <a:off x="10477500" y="2286000"/>
              <a:ext cx="5019600" cy="4286400"/>
              <a:chOff x="10477500" y="2286000"/>
              <a:chExt cx="5019600" cy="4286400"/>
            </a:xfrm>
          </p:grpSpPr>
          <p:sp>
            <p:nvSpPr>
              <p:cNvPr id="434" name="Google Shape;434;p32"/>
              <p:cNvSpPr/>
              <p:nvPr/>
            </p:nvSpPr>
            <p:spPr>
              <a:xfrm>
                <a:off x="10477500" y="2286000"/>
                <a:ext cx="5019600" cy="4286400"/>
              </a:xfrm>
              <a:prstGeom prst="roundRect">
                <a:avLst>
                  <a:gd fmla="val 3555" name="adj"/>
                </a:avLst>
              </a:prstGeom>
              <a:solidFill>
                <a:srgbClr val="2D3748">
                  <a:alpha val="40000"/>
                </a:srgbClr>
              </a:solidFill>
              <a:ln cap="flat" cmpd="sng" w="14300">
                <a:solidFill>
                  <a:srgbClr val="4A556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" name="Google Shape;435;p32"/>
              <p:cNvSpPr txBox="1"/>
              <p:nvPr/>
            </p:nvSpPr>
            <p:spPr>
              <a:xfrm>
                <a:off x="10858500" y="2667000"/>
                <a:ext cx="4314600" cy="372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10B981"/>
                    </a:solidFill>
                    <a:latin typeface="Arial"/>
                    <a:ea typeface="Arial"/>
                    <a:cs typeface="Arial"/>
                    <a:sym typeface="Arial"/>
                  </a:rPr>
                  <a:t>Poder Sem Limites</a:t>
                </a:r>
                <a:endParaRPr b="1" sz="18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b="0" lang="en-US" sz="1700">
                    <a:solidFill>
                      <a:srgbClr val="CBD5E0"/>
                    </a:solidFill>
                    <a:latin typeface="Arial"/>
                    <a:ea typeface="Arial"/>
                    <a:cs typeface="Arial"/>
                    <a:sym typeface="Arial"/>
                  </a:rPr>
                  <a:t>Acesso imediato ao ecossistema de software mais rico do planeta:</a:t>
                </a:r>
                <a:endParaRPr b="0" sz="1700">
                  <a:solidFill>
                    <a:srgbClr val="CBD5E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-336550" lvl="0" marL="457200" rtl="0" algn="l">
                  <a:spcBef>
                    <a:spcPts val="1125"/>
                  </a:spcBef>
                  <a:spcAft>
                    <a:spcPts val="0"/>
                  </a:spcAft>
                  <a:buClr>
                    <a:srgbClr val="CBD5E0"/>
                  </a:buClr>
                  <a:buSzPts val="1700"/>
                  <a:buFont typeface="Arial"/>
                  <a:buChar char="●"/>
                </a:pPr>
                <a:r>
                  <a:rPr b="1" lang="en-US" sz="17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Ciência de Dados &amp; IA:</a:t>
                </a:r>
                <a:r>
                  <a:rPr b="0" lang="en-US" sz="1700">
                    <a:solidFill>
                      <a:srgbClr val="CBD5E0"/>
                    </a:solidFill>
                    <a:latin typeface="Arial"/>
                    <a:ea typeface="Arial"/>
                    <a:cs typeface="Arial"/>
                    <a:sym typeface="Arial"/>
                  </a:rPr>
                  <a:t> Instale pacotes como Pandas, NumPy e TensorFlow em segundos.</a:t>
                </a:r>
                <a:endParaRPr b="0" sz="1700">
                  <a:solidFill>
                    <a:srgbClr val="CBD5E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-336550" lvl="0" marL="457200" rtl="0" algn="l">
                  <a:spcBef>
                    <a:spcPts val="900"/>
                  </a:spcBef>
                  <a:spcAft>
                    <a:spcPts val="0"/>
                  </a:spcAft>
                  <a:buClr>
                    <a:srgbClr val="CBD5E0"/>
                  </a:buClr>
                  <a:buSzPts val="1700"/>
                  <a:buFont typeface="Arial"/>
                  <a:buChar char="●"/>
                </a:pPr>
                <a:r>
                  <a:rPr b="1" lang="en-US" sz="17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Desenvolvimento Web:</a:t>
                </a:r>
                <a:r>
                  <a:rPr b="0" lang="en-US" sz="1700">
                    <a:solidFill>
                      <a:srgbClr val="CBD5E0"/>
                    </a:solidFill>
                    <a:latin typeface="Arial"/>
                    <a:ea typeface="Arial"/>
                    <a:cs typeface="Arial"/>
                    <a:sym typeface="Arial"/>
                  </a:rPr>
                  <a:t> Crie servidores robustos importando Django ou Flask.</a:t>
                </a:r>
                <a:endParaRPr b="0" sz="1700">
                  <a:solidFill>
                    <a:srgbClr val="CBD5E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-336550" lvl="0" marL="457200" rtl="0" algn="l">
                  <a:spcBef>
                    <a:spcPts val="900"/>
                  </a:spcBef>
                  <a:spcAft>
                    <a:spcPts val="0"/>
                  </a:spcAft>
                  <a:buClr>
                    <a:srgbClr val="CBD5E0"/>
                  </a:buClr>
                  <a:buSzPts val="1700"/>
                  <a:buFont typeface="Arial"/>
                  <a:buChar char="●"/>
                </a:pPr>
                <a:r>
                  <a:rPr b="1" lang="en-US" sz="17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Automação:</a:t>
                </a:r>
                <a:r>
                  <a:rPr b="0" lang="en-US" sz="1700">
                    <a:solidFill>
                      <a:srgbClr val="CBD5E0"/>
                    </a:solidFill>
                    <a:latin typeface="Arial"/>
                    <a:ea typeface="Arial"/>
                    <a:cs typeface="Arial"/>
                    <a:sym typeface="Arial"/>
                  </a:rPr>
                  <a:t> Faça scripts para raspar a web, ler PDFs ou enviar e-mails automaticamente.</a:t>
                </a:r>
                <a:endParaRPr b="0" sz="1700">
                  <a:solidFill>
                    <a:srgbClr val="CBD5E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36" name="Google Shape;436;p32"/>
          <p:cNvGrpSpPr/>
          <p:nvPr/>
        </p:nvGrpSpPr>
        <p:grpSpPr>
          <a:xfrm>
            <a:off x="762000" y="6953250"/>
            <a:ext cx="14735100" cy="1047900"/>
            <a:chOff x="762000" y="6953250"/>
            <a:chExt cx="14735100" cy="1047900"/>
          </a:xfrm>
        </p:grpSpPr>
        <p:sp>
          <p:nvSpPr>
            <p:cNvPr id="437" name="Google Shape;437;p32"/>
            <p:cNvSpPr/>
            <p:nvPr/>
          </p:nvSpPr>
          <p:spPr>
            <a:xfrm>
              <a:off x="762000" y="6953250"/>
              <a:ext cx="14735100" cy="1047900"/>
            </a:xfrm>
            <a:prstGeom prst="roundRect">
              <a:avLst>
                <a:gd fmla="val 14545" name="adj"/>
              </a:avLst>
            </a:prstGeom>
            <a:solidFill>
              <a:srgbClr val="2D3748">
                <a:alpha val="30000"/>
              </a:srgbClr>
            </a:solidFill>
            <a:ln cap="flat" cmpd="sng" w="9525">
              <a:solidFill>
                <a:srgbClr val="4A556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32"/>
            <p:cNvSpPr txBox="1"/>
            <p:nvPr/>
          </p:nvSpPr>
          <p:spPr>
            <a:xfrm>
              <a:off x="1143000" y="7143750"/>
              <a:ext cx="139731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CBD5E0"/>
                  </a:solidFill>
                  <a:latin typeface="Arial"/>
                  <a:ea typeface="Arial"/>
                  <a:cs typeface="Arial"/>
                  <a:sym typeface="Arial"/>
                </a:rPr>
                <a:t>💡 </a:t>
              </a:r>
              <a:r>
                <a:rPr b="1" lang="en-US" sz="13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Resumo Prático:</a:t>
              </a:r>
              <a:r>
                <a:rPr b="0" lang="en-US" sz="1300">
                  <a:solidFill>
                    <a:srgbClr val="CBD5E0"/>
                  </a:solidFill>
                  <a:latin typeface="Arial"/>
                  <a:ea typeface="Arial"/>
                  <a:cs typeface="Arial"/>
                  <a:sym typeface="Arial"/>
                </a:rPr>
                <a:t> Se o Python é o construtor, o PIP é o fornecedor de materiais. Em vez de reinventar a roda e escrever milhares de linhas para tarefas comuns, você usa o PIP para importar soluções consagradas criadas pela comunidade global.</a:t>
              </a:r>
              <a:endParaRPr b="0" sz="1300">
                <a:solidFill>
                  <a:srgbClr val="CBD5E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3"/>
          <p:cNvSpPr txBox="1"/>
          <p:nvPr/>
        </p:nvSpPr>
        <p:spPr>
          <a:xfrm>
            <a:off x="1047750" y="571500"/>
            <a:ext cx="9525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 Gerenciador de Pacotes PIP</a:t>
            </a:r>
            <a:endParaRPr b="0" sz="36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Como gerenciar, instalar e atualizar as bibliotecas essenciais do Python</a:t>
            </a:r>
            <a:endParaRPr b="0" sz="16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4" name="Google Shape;444;p33"/>
          <p:cNvSpPr/>
          <p:nvPr/>
        </p:nvSpPr>
        <p:spPr>
          <a:xfrm>
            <a:off x="13115925" y="762000"/>
            <a:ext cx="2095500" cy="476400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 cap="flat" cmpd="sng" w="1905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33"/>
          <p:cNvSpPr txBox="1"/>
          <p:nvPr/>
        </p:nvSpPr>
        <p:spPr>
          <a:xfrm>
            <a:off x="13115925" y="762000"/>
            <a:ext cx="2095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GUIA PRÁTICO</a:t>
            </a:r>
            <a:endParaRPr b="1" sz="110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46" name="Google Shape;446;p33"/>
          <p:cNvGrpSpPr/>
          <p:nvPr/>
        </p:nvGrpSpPr>
        <p:grpSpPr>
          <a:xfrm>
            <a:off x="1047750" y="2000250"/>
            <a:ext cx="4476900" cy="4667400"/>
            <a:chOff x="1047750" y="2000250"/>
            <a:chExt cx="4476900" cy="4667400"/>
          </a:xfrm>
        </p:grpSpPr>
        <p:sp>
          <p:nvSpPr>
            <p:cNvPr id="447" name="Google Shape;447;p33"/>
            <p:cNvSpPr/>
            <p:nvPr/>
          </p:nvSpPr>
          <p:spPr>
            <a:xfrm>
              <a:off x="1047750" y="2000250"/>
              <a:ext cx="4476900" cy="4667400"/>
            </a:xfrm>
            <a:prstGeom prst="roundRect">
              <a:avLst>
                <a:gd fmla="val 3404" name="adj"/>
              </a:avLst>
            </a:prstGeom>
            <a:solidFill>
              <a:srgbClr val="1E293B">
                <a:alpha val="6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33"/>
            <p:cNvSpPr txBox="1"/>
            <p:nvPr/>
          </p:nvSpPr>
          <p:spPr>
            <a:xfrm>
              <a:off x="1428750" y="2381250"/>
              <a:ext cx="3714900" cy="390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200">
                  <a:solidFill>
                    <a:srgbClr val="10B981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01</a:t>
              </a:r>
              <a:endParaRPr b="0" sz="3200">
                <a:solidFill>
                  <a:srgbClr val="10B981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O que é o PIP?</a:t>
              </a:r>
              <a:endParaRPr b="1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É o instalador padrão do Python. Ele serve para baixar, instalar e gerenciar bibliotecas externas úteis para seus projetos.</a:t>
              </a:r>
              <a:endParaRPr b="0" sz="11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Permite acessar facilmente milhares de pacotes e códigos prontos disponíveis no PyPI (Python Package Index), o repositório oficial.</a:t>
              </a:r>
              <a:endParaRPr b="0"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49" name="Google Shape;449;p33"/>
          <p:cNvGrpSpPr/>
          <p:nvPr/>
        </p:nvGrpSpPr>
        <p:grpSpPr>
          <a:xfrm>
            <a:off x="5886450" y="2000250"/>
            <a:ext cx="4476900" cy="4667400"/>
            <a:chOff x="5886450" y="2000250"/>
            <a:chExt cx="4476900" cy="4667400"/>
          </a:xfrm>
        </p:grpSpPr>
        <p:sp>
          <p:nvSpPr>
            <p:cNvPr id="450" name="Google Shape;450;p33"/>
            <p:cNvSpPr/>
            <p:nvPr/>
          </p:nvSpPr>
          <p:spPr>
            <a:xfrm>
              <a:off x="5886450" y="2000250"/>
              <a:ext cx="4476900" cy="4667400"/>
            </a:xfrm>
            <a:prstGeom prst="roundRect">
              <a:avLst>
                <a:gd fmla="val 3404" name="adj"/>
              </a:avLst>
            </a:prstGeom>
            <a:solidFill>
              <a:srgbClr val="1E293B">
                <a:alpha val="6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33"/>
            <p:cNvSpPr txBox="1"/>
            <p:nvPr/>
          </p:nvSpPr>
          <p:spPr>
            <a:xfrm>
              <a:off x="6267450" y="2381250"/>
              <a:ext cx="3714900" cy="390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200">
                  <a:solidFill>
                    <a:srgbClr val="38BDF8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02</a:t>
              </a:r>
              <a:endParaRPr b="0" sz="3200">
                <a:solidFill>
                  <a:srgbClr val="38BDF8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Instalar Pacotes</a:t>
              </a:r>
              <a:endParaRPr b="1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Para instalar qualquer módulo do ecossistema, execute o comando direto no terminal da sua máquina:</a:t>
              </a:r>
              <a:endParaRPr b="0" sz="11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34D399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pip install nome-do-pacote</a:t>
              </a:r>
              <a:endParaRPr/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Exemplo prático para instalar a biblioteca de análise de dados Pandas:</a:t>
              </a:r>
              <a:endParaRPr b="0"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34D399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pip install pandas</a:t>
              </a:r>
              <a:endParaRPr/>
            </a:p>
          </p:txBody>
        </p:sp>
      </p:grpSp>
      <p:grpSp>
        <p:nvGrpSpPr>
          <p:cNvPr id="452" name="Google Shape;452;p33"/>
          <p:cNvGrpSpPr/>
          <p:nvPr/>
        </p:nvGrpSpPr>
        <p:grpSpPr>
          <a:xfrm>
            <a:off x="10734675" y="2000250"/>
            <a:ext cx="4476900" cy="4667400"/>
            <a:chOff x="10734675" y="2000250"/>
            <a:chExt cx="4476900" cy="4667400"/>
          </a:xfrm>
        </p:grpSpPr>
        <p:sp>
          <p:nvSpPr>
            <p:cNvPr id="453" name="Google Shape;453;p33"/>
            <p:cNvSpPr/>
            <p:nvPr/>
          </p:nvSpPr>
          <p:spPr>
            <a:xfrm>
              <a:off x="10734675" y="2000250"/>
              <a:ext cx="4476900" cy="4667400"/>
            </a:xfrm>
            <a:prstGeom prst="roundRect">
              <a:avLst>
                <a:gd fmla="val 3404" name="adj"/>
              </a:avLst>
            </a:prstGeom>
            <a:solidFill>
              <a:srgbClr val="1E293B">
                <a:alpha val="6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33"/>
            <p:cNvSpPr txBox="1"/>
            <p:nvPr/>
          </p:nvSpPr>
          <p:spPr>
            <a:xfrm>
              <a:off x="11115675" y="2381250"/>
              <a:ext cx="3714900" cy="390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200">
                  <a:solidFill>
                    <a:srgbClr val="FBBF24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03</a:t>
              </a:r>
              <a:endParaRPr b="0" sz="3200">
                <a:solidFill>
                  <a:srgbClr val="FBBF24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Atualizar o PIP</a:t>
              </a:r>
              <a:endParaRPr b="1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Garanta que o próprio gerenciador esteja sempre rodando em sua versão mais recente.</a:t>
              </a:r>
              <a:endParaRPr b="0" sz="11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34D399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python -m pip install --upgrade pip</a:t>
              </a:r>
              <a:endParaRPr/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Esse comando instrui o interpretador Python a rodar o pip como um módulo interno para atualizar a si mesmo com total segurança.</a:t>
              </a:r>
              <a:endParaRPr b="0"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55" name="Google Shape;455;p33"/>
          <p:cNvGrpSpPr/>
          <p:nvPr/>
        </p:nvGrpSpPr>
        <p:grpSpPr>
          <a:xfrm>
            <a:off x="1047750" y="7048500"/>
            <a:ext cx="14163600" cy="1047900"/>
            <a:chOff x="1047750" y="7048500"/>
            <a:chExt cx="14163600" cy="1047900"/>
          </a:xfrm>
        </p:grpSpPr>
        <p:sp>
          <p:nvSpPr>
            <p:cNvPr id="456" name="Google Shape;456;p33"/>
            <p:cNvSpPr/>
            <p:nvPr/>
          </p:nvSpPr>
          <p:spPr>
            <a:xfrm>
              <a:off x="1047750" y="7048500"/>
              <a:ext cx="14163600" cy="1047900"/>
            </a:xfrm>
            <a:prstGeom prst="roundRect">
              <a:avLst>
                <a:gd fmla="val 10909" name="adj"/>
              </a:avLst>
            </a:prstGeom>
            <a:solidFill>
              <a:srgbClr val="1E293B">
                <a:alpha val="94999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33"/>
            <p:cNvSpPr txBox="1"/>
            <p:nvPr/>
          </p:nvSpPr>
          <p:spPr>
            <a:xfrm>
              <a:off x="1333500" y="7048500"/>
              <a:ext cx="135921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💡 Por que manter o PIP atualizado?</a:t>
              </a:r>
              <a:endParaRPr b="1" sz="1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Manter o PIP atualizado garante acesso a correções de segurança críticas, melhorias de desempenho de download e compatibilidade com novos formatos de empacotamento da comunidade Python.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458" name="Google Shape;458;p33"/>
          <p:cNvSpPr txBox="1"/>
          <p:nvPr/>
        </p:nvSpPr>
        <p:spPr>
          <a:xfrm>
            <a:off x="757350" y="285600"/>
            <a:ext cx="147351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MÓDULO 3: O ARSENAL DO DESENVOLVEDOR (PIP)</a:t>
            </a:r>
            <a:endParaRPr b="1" sz="1200">
              <a:solidFill>
                <a:srgbClr val="10B98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3" name="Google Shape;46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6259100" cy="914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4" name="Google Shape;464;p34"/>
          <p:cNvGrpSpPr/>
          <p:nvPr/>
        </p:nvGrpSpPr>
        <p:grpSpPr>
          <a:xfrm>
            <a:off x="1047750" y="571500"/>
            <a:ext cx="9525000" cy="1143000"/>
            <a:chOff x="1047750" y="571500"/>
            <a:chExt cx="9525000" cy="1143000"/>
          </a:xfrm>
        </p:grpSpPr>
        <p:sp>
          <p:nvSpPr>
            <p:cNvPr id="465" name="Google Shape;465;p34"/>
            <p:cNvSpPr/>
            <p:nvPr/>
          </p:nvSpPr>
          <p:spPr>
            <a:xfrm>
              <a:off x="1047750" y="571500"/>
              <a:ext cx="95250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34"/>
            <p:cNvSpPr txBox="1"/>
            <p:nvPr/>
          </p:nvSpPr>
          <p:spPr>
            <a:xfrm>
              <a:off x="1047750" y="571500"/>
              <a:ext cx="9525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6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Exemplos de Bibliotecas Populares</a:t>
              </a:r>
              <a:endParaRPr b="0" sz="36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Os pacotes mais essenciais do ecossistema Python para começar seus projetos</a:t>
              </a:r>
              <a:endParaRPr b="0" sz="16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467" name="Google Shape;467;p34"/>
          <p:cNvSpPr/>
          <p:nvPr/>
        </p:nvSpPr>
        <p:spPr>
          <a:xfrm>
            <a:off x="13115925" y="762000"/>
            <a:ext cx="2095500" cy="476400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 cap="flat" cmpd="sng" w="1905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8" name="Google Shape;468;p34"/>
          <p:cNvGrpSpPr/>
          <p:nvPr/>
        </p:nvGrpSpPr>
        <p:grpSpPr>
          <a:xfrm>
            <a:off x="13115925" y="762000"/>
            <a:ext cx="2095500" cy="476400"/>
            <a:chOff x="13115925" y="762000"/>
            <a:chExt cx="2095500" cy="476400"/>
          </a:xfrm>
        </p:grpSpPr>
        <p:sp>
          <p:nvSpPr>
            <p:cNvPr id="469" name="Google Shape;469;p34"/>
            <p:cNvSpPr/>
            <p:nvPr/>
          </p:nvSpPr>
          <p:spPr>
            <a:xfrm>
              <a:off x="13115925" y="762000"/>
              <a:ext cx="20955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34"/>
            <p:cNvSpPr txBox="1"/>
            <p:nvPr/>
          </p:nvSpPr>
          <p:spPr>
            <a:xfrm>
              <a:off x="13115925" y="762000"/>
              <a:ext cx="2095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BIBLIOTECAS CHAVE</a:t>
              </a:r>
              <a:endParaRPr b="1" sz="11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71" name="Google Shape;471;p34"/>
          <p:cNvGrpSpPr/>
          <p:nvPr/>
        </p:nvGrpSpPr>
        <p:grpSpPr>
          <a:xfrm>
            <a:off x="1047750" y="2000250"/>
            <a:ext cx="3333900" cy="4667400"/>
            <a:chOff x="1047750" y="2000250"/>
            <a:chExt cx="3333900" cy="4667400"/>
          </a:xfrm>
        </p:grpSpPr>
        <p:sp>
          <p:nvSpPr>
            <p:cNvPr id="472" name="Google Shape;472;p34"/>
            <p:cNvSpPr/>
            <p:nvPr/>
          </p:nvSpPr>
          <p:spPr>
            <a:xfrm>
              <a:off x="1047750" y="2000250"/>
              <a:ext cx="3333900" cy="4667400"/>
            </a:xfrm>
            <a:prstGeom prst="roundRect">
              <a:avLst>
                <a:gd fmla="val 4571" name="adj"/>
              </a:avLst>
            </a:prstGeom>
            <a:solidFill>
              <a:srgbClr val="1E293B">
                <a:alpha val="6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34"/>
            <p:cNvSpPr txBox="1"/>
            <p:nvPr/>
          </p:nvSpPr>
          <p:spPr>
            <a:xfrm>
              <a:off x="1333500" y="2286000"/>
              <a:ext cx="2762400" cy="40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200">
                  <a:solidFill>
                    <a:srgbClr val="10B981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01</a:t>
              </a:r>
              <a:endParaRPr b="0" sz="3200">
                <a:solidFill>
                  <a:srgbClr val="10B981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pandas</a:t>
              </a:r>
              <a:endParaRPr b="1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Usada para análise e manipulação de dados. Trabalha com estruturas como tabelas (DataFrames), séries temporais e arquivos CSV, Excel, entre outros.</a:t>
              </a:r>
              <a:endParaRPr b="0" sz="11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900"/>
                </a:spcAft>
                <a:buNone/>
              </a:pPr>
              <a:r>
                <a:rPr b="1" lang="en-US" sz="1300">
                  <a:solidFill>
                    <a:srgbClr val="34D399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pip install pandas</a:t>
              </a:r>
              <a:endParaRPr b="1" sz="1300">
                <a:solidFill>
                  <a:srgbClr val="34D399"/>
                </a:solidFill>
                <a:highlight>
                  <a:srgbClr val="0F172A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474" name="Google Shape;474;p34"/>
          <p:cNvGrpSpPr/>
          <p:nvPr/>
        </p:nvGrpSpPr>
        <p:grpSpPr>
          <a:xfrm>
            <a:off x="4667250" y="2000250"/>
            <a:ext cx="3333900" cy="4667400"/>
            <a:chOff x="4667250" y="2000250"/>
            <a:chExt cx="3333900" cy="4667400"/>
          </a:xfrm>
        </p:grpSpPr>
        <p:sp>
          <p:nvSpPr>
            <p:cNvPr id="475" name="Google Shape;475;p34"/>
            <p:cNvSpPr/>
            <p:nvPr/>
          </p:nvSpPr>
          <p:spPr>
            <a:xfrm>
              <a:off x="4667250" y="2000250"/>
              <a:ext cx="3333900" cy="4667400"/>
            </a:xfrm>
            <a:prstGeom prst="roundRect">
              <a:avLst>
                <a:gd fmla="val 4571" name="adj"/>
              </a:avLst>
            </a:prstGeom>
            <a:solidFill>
              <a:srgbClr val="1E293B">
                <a:alpha val="6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34"/>
            <p:cNvSpPr txBox="1"/>
            <p:nvPr/>
          </p:nvSpPr>
          <p:spPr>
            <a:xfrm>
              <a:off x="4953000" y="2286000"/>
              <a:ext cx="2762400" cy="40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200">
                  <a:solidFill>
                    <a:srgbClr val="38BDF8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02</a:t>
              </a:r>
              <a:endParaRPr b="0" sz="3200">
                <a:solidFill>
                  <a:srgbClr val="38BDF8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numpy</a:t>
              </a:r>
              <a:endParaRPr b="1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Fornece suporte a arrays, operações matemáticas e álgebra linear de forma rápida e eficiente. É a base para muitas bibliotecas científicas no Python.</a:t>
              </a:r>
              <a:endParaRPr b="0" sz="11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900"/>
                </a:spcAft>
                <a:buNone/>
              </a:pPr>
              <a:r>
                <a:rPr b="1" lang="en-US" sz="1300">
                  <a:solidFill>
                    <a:srgbClr val="34D399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pip install numpy</a:t>
              </a:r>
              <a:endParaRPr b="1" sz="1300">
                <a:solidFill>
                  <a:srgbClr val="34D399"/>
                </a:solidFill>
                <a:highlight>
                  <a:srgbClr val="0F172A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477" name="Google Shape;477;p34"/>
          <p:cNvGrpSpPr/>
          <p:nvPr/>
        </p:nvGrpSpPr>
        <p:grpSpPr>
          <a:xfrm>
            <a:off x="8286750" y="2000250"/>
            <a:ext cx="3333900" cy="4667400"/>
            <a:chOff x="8286750" y="2000250"/>
            <a:chExt cx="3333900" cy="4667400"/>
          </a:xfrm>
        </p:grpSpPr>
        <p:sp>
          <p:nvSpPr>
            <p:cNvPr id="478" name="Google Shape;478;p34"/>
            <p:cNvSpPr/>
            <p:nvPr/>
          </p:nvSpPr>
          <p:spPr>
            <a:xfrm>
              <a:off x="8286750" y="2000250"/>
              <a:ext cx="3333900" cy="4667400"/>
            </a:xfrm>
            <a:prstGeom prst="roundRect">
              <a:avLst>
                <a:gd fmla="val 4571" name="adj"/>
              </a:avLst>
            </a:prstGeom>
            <a:solidFill>
              <a:srgbClr val="1E293B">
                <a:alpha val="6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4"/>
            <p:cNvSpPr txBox="1"/>
            <p:nvPr/>
          </p:nvSpPr>
          <p:spPr>
            <a:xfrm>
              <a:off x="8572500" y="2286000"/>
              <a:ext cx="2762400" cy="40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200">
                  <a:solidFill>
                    <a:srgbClr val="FBBF24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03</a:t>
              </a:r>
              <a:endParaRPr b="0" sz="3200">
                <a:solidFill>
                  <a:srgbClr val="FBBF24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matplotlib</a:t>
              </a:r>
              <a:endParaRPr b="1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Utilizada para criar gráficos e visualizações de dados. Permite gerar gráficos de linha, barra, dispersão, histogramas e muito mais.</a:t>
              </a:r>
              <a:endParaRPr b="0" sz="11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900"/>
                </a:spcAft>
                <a:buNone/>
              </a:pPr>
              <a:r>
                <a:rPr b="1" lang="en-US" sz="1300">
                  <a:solidFill>
                    <a:srgbClr val="34D399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pip install matplotlib</a:t>
              </a:r>
              <a:endParaRPr b="1" sz="1300">
                <a:solidFill>
                  <a:srgbClr val="34D399"/>
                </a:solidFill>
                <a:highlight>
                  <a:srgbClr val="0F172A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480" name="Google Shape;480;p34"/>
          <p:cNvGrpSpPr/>
          <p:nvPr/>
        </p:nvGrpSpPr>
        <p:grpSpPr>
          <a:xfrm>
            <a:off x="11906250" y="2000250"/>
            <a:ext cx="3333900" cy="4667400"/>
            <a:chOff x="11906250" y="2000250"/>
            <a:chExt cx="3333900" cy="4667400"/>
          </a:xfrm>
        </p:grpSpPr>
        <p:sp>
          <p:nvSpPr>
            <p:cNvPr id="481" name="Google Shape;481;p34"/>
            <p:cNvSpPr/>
            <p:nvPr/>
          </p:nvSpPr>
          <p:spPr>
            <a:xfrm>
              <a:off x="11906250" y="2000250"/>
              <a:ext cx="3333900" cy="4667400"/>
            </a:xfrm>
            <a:prstGeom prst="roundRect">
              <a:avLst>
                <a:gd fmla="val 4571" name="adj"/>
              </a:avLst>
            </a:prstGeom>
            <a:solidFill>
              <a:srgbClr val="1E293B">
                <a:alpha val="6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34"/>
            <p:cNvSpPr txBox="1"/>
            <p:nvPr/>
          </p:nvSpPr>
          <p:spPr>
            <a:xfrm>
              <a:off x="12192000" y="2286000"/>
              <a:ext cx="2762400" cy="40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200">
                  <a:solidFill>
                    <a:srgbClr val="EC4899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04</a:t>
              </a:r>
              <a:endParaRPr b="0" sz="3200">
                <a:solidFill>
                  <a:srgbClr val="EC4899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requests</a:t>
              </a:r>
              <a:endParaRPr b="1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Facilita a realização de requisições HTTP, como acessar APIs ou páginas da internet, de forma extremamente simples, intuitiva e eficiente.</a:t>
              </a:r>
              <a:endParaRPr b="0" sz="11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900"/>
                </a:spcAft>
                <a:buNone/>
              </a:pPr>
              <a:r>
                <a:rPr b="1" lang="en-US" sz="1300">
                  <a:solidFill>
                    <a:srgbClr val="34D399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pip install requests</a:t>
              </a:r>
              <a:endParaRPr b="1" sz="1300">
                <a:solidFill>
                  <a:srgbClr val="34D399"/>
                </a:solidFill>
                <a:highlight>
                  <a:srgbClr val="0F172A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483" name="Google Shape;483;p34"/>
          <p:cNvGrpSpPr/>
          <p:nvPr/>
        </p:nvGrpSpPr>
        <p:grpSpPr>
          <a:xfrm>
            <a:off x="1047750" y="7048500"/>
            <a:ext cx="14192100" cy="1047900"/>
            <a:chOff x="1047750" y="7048500"/>
            <a:chExt cx="14192100" cy="1047900"/>
          </a:xfrm>
        </p:grpSpPr>
        <p:sp>
          <p:nvSpPr>
            <p:cNvPr id="484" name="Google Shape;484;p34"/>
            <p:cNvSpPr/>
            <p:nvPr/>
          </p:nvSpPr>
          <p:spPr>
            <a:xfrm>
              <a:off x="1047750" y="7048500"/>
              <a:ext cx="14192100" cy="1047900"/>
            </a:xfrm>
            <a:prstGeom prst="roundRect">
              <a:avLst>
                <a:gd fmla="val 10909" name="adj"/>
              </a:avLst>
            </a:prstGeom>
            <a:solidFill>
              <a:srgbClr val="1E293B">
                <a:alpha val="94999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34"/>
            <p:cNvSpPr txBox="1"/>
            <p:nvPr/>
          </p:nvSpPr>
          <p:spPr>
            <a:xfrm>
              <a:off x="1333500" y="7048500"/>
              <a:ext cx="13620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💡 Como instalar qualquer uma delas?</a:t>
              </a:r>
              <a:endParaRPr b="1" sz="1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Basta abrir o seu terminal ou prompt de comando e executar o respectivo comando </a:t>
              </a:r>
              <a:r>
                <a:rPr b="1" lang="en-US" sz="1100">
                  <a:solidFill>
                    <a:srgbClr val="34D399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pip install</a:t>
              </a:r>
              <a:r>
                <a:rPr b="0"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indicado em cada card para começar a usá-las imediatamente em seu código.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486" name="Google Shape;486;p34"/>
          <p:cNvSpPr txBox="1"/>
          <p:nvPr/>
        </p:nvSpPr>
        <p:spPr>
          <a:xfrm>
            <a:off x="760450" y="285600"/>
            <a:ext cx="147351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MÓDULO 3: O ARSENAL DO DESENVOLVEDOR (PIP)</a:t>
            </a:r>
            <a:endParaRPr b="1" sz="1200">
              <a:solidFill>
                <a:srgbClr val="10B98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" name="Google Shape;491;p35"/>
          <p:cNvGrpSpPr/>
          <p:nvPr/>
        </p:nvGrpSpPr>
        <p:grpSpPr>
          <a:xfrm>
            <a:off x="0" y="0"/>
            <a:ext cx="16259100" cy="9144000"/>
            <a:chOff x="0" y="0"/>
            <a:chExt cx="16259100" cy="9144000"/>
          </a:xfrm>
        </p:grpSpPr>
        <p:sp>
          <p:nvSpPr>
            <p:cNvPr id="492" name="Google Shape;492;p35"/>
            <p:cNvSpPr/>
            <p:nvPr/>
          </p:nvSpPr>
          <p:spPr>
            <a:xfrm>
              <a:off x="0" y="0"/>
              <a:ext cx="16259100" cy="9144000"/>
            </a:xfrm>
            <a:prstGeom prst="rect">
              <a:avLst/>
            </a:prstGeom>
            <a:solidFill>
              <a:srgbClr val="0F172A">
                <a:alpha val="4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35"/>
            <p:cNvSpPr txBox="1"/>
            <p:nvPr/>
          </p:nvSpPr>
          <p:spPr>
            <a:xfrm>
              <a:off x="762000" y="285750"/>
              <a:ext cx="14735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MÓDULO 3: O ARSENAL DO DESENVOLVEDOR (PIP)</a:t>
              </a:r>
              <a:endParaRPr b="1" sz="12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94" name="Google Shape;494;p35"/>
            <p:cNvSpPr txBox="1"/>
            <p:nvPr/>
          </p:nvSpPr>
          <p:spPr>
            <a:xfrm>
              <a:off x="1047750" y="571500"/>
              <a:ext cx="9525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6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Exercício Prático #3</a:t>
              </a:r>
              <a:endParaRPr b="0" sz="36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Instalação em lote de todas as bibliotecas chave do projeto</a:t>
              </a:r>
              <a:endParaRPr b="0" sz="16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95" name="Google Shape;495;p35"/>
            <p:cNvSpPr/>
            <p:nvPr/>
          </p:nvSpPr>
          <p:spPr>
            <a:xfrm>
              <a:off x="13115925" y="762000"/>
              <a:ext cx="2095500" cy="476400"/>
            </a:xfrm>
            <a:prstGeom prst="roundRect">
              <a:avLst>
                <a:gd fmla="val 50000" name="adj"/>
              </a:avLst>
            </a:prstGeom>
            <a:solidFill>
              <a:srgbClr val="1E293B"/>
            </a:solidFill>
            <a:ln cap="flat" cmpd="sng" w="1905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35"/>
            <p:cNvSpPr txBox="1"/>
            <p:nvPr/>
          </p:nvSpPr>
          <p:spPr>
            <a:xfrm>
              <a:off x="13115925" y="762000"/>
              <a:ext cx="2095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DESAFIO PRÁTICO</a:t>
              </a:r>
              <a:endParaRPr b="1" sz="11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97" name="Google Shape;497;p35"/>
          <p:cNvGrpSpPr/>
          <p:nvPr/>
        </p:nvGrpSpPr>
        <p:grpSpPr>
          <a:xfrm>
            <a:off x="1047750" y="2000250"/>
            <a:ext cx="6762900" cy="4667400"/>
            <a:chOff x="1047750" y="2000250"/>
            <a:chExt cx="6762900" cy="4667400"/>
          </a:xfrm>
        </p:grpSpPr>
        <p:sp>
          <p:nvSpPr>
            <p:cNvPr id="498" name="Google Shape;498;p35"/>
            <p:cNvSpPr/>
            <p:nvPr/>
          </p:nvSpPr>
          <p:spPr>
            <a:xfrm>
              <a:off x="1047750" y="2000250"/>
              <a:ext cx="6762900" cy="4667400"/>
            </a:xfrm>
            <a:prstGeom prst="roundRect">
              <a:avLst>
                <a:gd fmla="val 3265" name="adj"/>
              </a:avLst>
            </a:prstGeom>
            <a:solidFill>
              <a:srgbClr val="1E293B">
                <a:alpha val="6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35"/>
            <p:cNvSpPr txBox="1"/>
            <p:nvPr/>
          </p:nvSpPr>
          <p:spPr>
            <a:xfrm>
              <a:off x="1428750" y="2381250"/>
              <a:ext cx="6000900" cy="390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200">
                  <a:solidFill>
                    <a:srgbClr val="10B981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01</a:t>
              </a:r>
              <a:endParaRPr b="0" sz="3200">
                <a:solidFill>
                  <a:srgbClr val="10B981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Instalação Unitária Sequencial</a:t>
              </a:r>
              <a:endParaRPr b="1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Se preferir instalar uma a uma para acompanhar o progresso individual de cada pacote, execute os comandos de forma isolada no seu terminal:</a:t>
              </a:r>
              <a:endParaRPr b="0" sz="11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O PIP buscará a versão mais recente e compatível com seu ambiente Python para cada um dos pacotes selecionados.</a:t>
              </a:r>
              <a:endParaRPr b="0" sz="11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34D399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pip install pandas numpy matplotlib requests</a:t>
              </a:r>
              <a:endParaRPr b="1" sz="1400">
                <a:solidFill>
                  <a:srgbClr val="34D399"/>
                </a:solidFill>
                <a:highlight>
                  <a:srgbClr val="0F172A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500" name="Google Shape;500;p35"/>
          <p:cNvGrpSpPr/>
          <p:nvPr/>
        </p:nvGrpSpPr>
        <p:grpSpPr>
          <a:xfrm>
            <a:off x="8448675" y="2000250"/>
            <a:ext cx="6762900" cy="4667400"/>
            <a:chOff x="8448675" y="2000250"/>
            <a:chExt cx="6762900" cy="4667400"/>
          </a:xfrm>
        </p:grpSpPr>
        <p:sp>
          <p:nvSpPr>
            <p:cNvPr id="501" name="Google Shape;501;p35"/>
            <p:cNvSpPr/>
            <p:nvPr/>
          </p:nvSpPr>
          <p:spPr>
            <a:xfrm>
              <a:off x="8448675" y="2000250"/>
              <a:ext cx="6762900" cy="4667400"/>
            </a:xfrm>
            <a:prstGeom prst="roundRect">
              <a:avLst>
                <a:gd fmla="val 3265" name="adj"/>
              </a:avLst>
            </a:prstGeom>
            <a:solidFill>
              <a:srgbClr val="1E293B">
                <a:alpha val="6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35"/>
            <p:cNvSpPr txBox="1"/>
            <p:nvPr/>
          </p:nvSpPr>
          <p:spPr>
            <a:xfrm>
              <a:off x="8829675" y="2381250"/>
              <a:ext cx="6000900" cy="390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200">
                  <a:solidFill>
                    <a:srgbClr val="38BDF8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02</a:t>
              </a:r>
              <a:endParaRPr b="0" sz="3200">
                <a:solidFill>
                  <a:srgbClr val="38BDF8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Instalação Automatizada (requirements.txt)</a:t>
              </a:r>
              <a:endParaRPr b="1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Para projetos reais, listamos as dependências em um arquivo de texto e instalamos tudo de uma única vez com um comando limpo:</a:t>
              </a:r>
              <a:endParaRPr b="0" sz="11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1. Crie um arquivo chamado </a:t>
              </a:r>
              <a:r>
                <a:rPr b="0" lang="en-US" sz="115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requirements.txt</a:t>
              </a:r>
              <a:r>
                <a:rPr b="0" lang="en-US" sz="11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com o conteúdo:</a:t>
              </a:r>
              <a:endParaRPr b="0" sz="11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38BDF8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pandas</a:t>
              </a:r>
              <a:br>
                <a:rPr lang="en-US" sz="1100">
                  <a:solidFill>
                    <a:srgbClr val="38BDF8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lang="en-US" sz="1100">
                  <a:solidFill>
                    <a:srgbClr val="38BDF8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numpy</a:t>
              </a:r>
              <a:br>
                <a:rPr lang="en-US" sz="1100">
                  <a:solidFill>
                    <a:srgbClr val="38BDF8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lang="en-US" sz="1100">
                  <a:solidFill>
                    <a:srgbClr val="38BDF8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matplotlib</a:t>
              </a:r>
              <a:br>
                <a:rPr lang="en-US" sz="1100">
                  <a:solidFill>
                    <a:srgbClr val="38BDF8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lang="en-US" sz="1100">
                  <a:solidFill>
                    <a:srgbClr val="38BDF8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requests</a:t>
              </a:r>
              <a:endParaRPr sz="1100">
                <a:solidFill>
                  <a:srgbClr val="38BDF8"/>
                </a:solidFill>
                <a:highlight>
                  <a:srgbClr val="0F172A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2. No terminal, execute o comando de instalação:</a:t>
              </a:r>
              <a:endParaRPr b="0" sz="11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38BDF8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pip install -r requirements.txt</a:t>
              </a:r>
              <a:endParaRPr b="1" sz="1400">
                <a:solidFill>
                  <a:srgbClr val="38BDF8"/>
                </a:solidFill>
                <a:highlight>
                  <a:srgbClr val="0F172A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503" name="Google Shape;503;p35"/>
          <p:cNvGrpSpPr/>
          <p:nvPr/>
        </p:nvGrpSpPr>
        <p:grpSpPr>
          <a:xfrm>
            <a:off x="1047750" y="7048500"/>
            <a:ext cx="14163600" cy="1047900"/>
            <a:chOff x="1047750" y="7048500"/>
            <a:chExt cx="14163600" cy="1047900"/>
          </a:xfrm>
        </p:grpSpPr>
        <p:sp>
          <p:nvSpPr>
            <p:cNvPr id="504" name="Google Shape;504;p35"/>
            <p:cNvSpPr/>
            <p:nvPr/>
          </p:nvSpPr>
          <p:spPr>
            <a:xfrm>
              <a:off x="1047750" y="7048500"/>
              <a:ext cx="14163600" cy="1047900"/>
            </a:xfrm>
            <a:prstGeom prst="roundRect">
              <a:avLst>
                <a:gd fmla="val 10909" name="adj"/>
              </a:avLst>
            </a:prstGeom>
            <a:solidFill>
              <a:srgbClr val="1E293B">
                <a:alpha val="94999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35"/>
            <p:cNvSpPr txBox="1"/>
            <p:nvPr/>
          </p:nvSpPr>
          <p:spPr>
            <a:xfrm>
              <a:off x="1333500" y="7048500"/>
              <a:ext cx="135921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💡 Dica de Produtividade</a:t>
              </a:r>
              <a:endParaRPr b="1" sz="1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Utilizar um arquivo </a:t>
              </a:r>
              <a:r>
                <a:rPr b="1" lang="en-US" sz="1100">
                  <a:solidFill>
                    <a:srgbClr val="34D399"/>
                  </a:solidFill>
                  <a:latin typeface="Inter"/>
                  <a:ea typeface="Inter"/>
                  <a:cs typeface="Inter"/>
                  <a:sym typeface="Inter"/>
                </a:rPr>
                <a:t>requirements.txt</a:t>
              </a:r>
              <a:r>
                <a:rPr b="0"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é a melhor prática para garantir a portabilidade do seu código. Permite que qualquer outro desenvolvedor configure o mesmo ambiente de trabalho executando apenas um comando.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6"/>
          <p:cNvSpPr/>
          <p:nvPr/>
        </p:nvSpPr>
        <p:spPr>
          <a:xfrm>
            <a:off x="0" y="0"/>
            <a:ext cx="16259100" cy="9144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36"/>
          <p:cNvSpPr txBox="1"/>
          <p:nvPr/>
        </p:nvSpPr>
        <p:spPr>
          <a:xfrm>
            <a:off x="762000" y="523875"/>
            <a:ext cx="147351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MÓDULO 1: RECURSOS E MATERIAIS ADICIONAIS</a:t>
            </a:r>
            <a:endParaRPr b="1" sz="1200">
              <a:solidFill>
                <a:srgbClr val="10B98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12" name="Google Shape;512;p36"/>
          <p:cNvSpPr txBox="1"/>
          <p:nvPr/>
        </p:nvSpPr>
        <p:spPr>
          <a:xfrm>
            <a:off x="762000" y="809625"/>
            <a:ext cx="14735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Links Úteis e Recomendados</a:t>
            </a:r>
            <a:endParaRPr b="1" sz="3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36"/>
          <p:cNvSpPr txBox="1"/>
          <p:nvPr/>
        </p:nvSpPr>
        <p:spPr>
          <a:xfrm>
            <a:off x="762000" y="1381125"/>
            <a:ext cx="14735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Explore os vídeos complementares e roteiros de estudo selecionados para aprofundar seu aprendizado.</a:t>
            </a:r>
            <a:endParaRPr b="0" sz="1500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4" name="Google Shape;514;p36"/>
          <p:cNvGrpSpPr/>
          <p:nvPr/>
        </p:nvGrpSpPr>
        <p:grpSpPr>
          <a:xfrm>
            <a:off x="762000" y="2047875"/>
            <a:ext cx="4667400" cy="4476900"/>
            <a:chOff x="762000" y="2047875"/>
            <a:chExt cx="4667400" cy="4476900"/>
          </a:xfrm>
        </p:grpSpPr>
        <p:sp>
          <p:nvSpPr>
            <p:cNvPr id="515" name="Google Shape;515;p36"/>
            <p:cNvSpPr/>
            <p:nvPr/>
          </p:nvSpPr>
          <p:spPr>
            <a:xfrm>
              <a:off x="762000" y="2047875"/>
              <a:ext cx="4667400" cy="4476900"/>
            </a:xfrm>
            <a:prstGeom prst="roundRect">
              <a:avLst>
                <a:gd fmla="val 3404" name="adj"/>
              </a:avLst>
            </a:prstGeom>
            <a:solidFill>
              <a:srgbClr val="1E293B">
                <a:alpha val="6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36"/>
            <p:cNvSpPr txBox="1"/>
            <p:nvPr/>
          </p:nvSpPr>
          <p:spPr>
            <a:xfrm>
              <a:off x="1095375" y="2381250"/>
              <a:ext cx="40005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play_circle_filled</a:t>
              </a:r>
              <a:endParaRPr sz="32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Introdução ao Git &amp; GitHub</a:t>
              </a:r>
              <a:endParaRPr b="1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Curso rápido ideal para iniciantes compreenderem o fluxo básico de controle de versão do absoluto zero [cite: 5].</a:t>
              </a:r>
              <a:endParaRPr b="0"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4D399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youtube.com/watch?v=ts-H3W1uLMM</a:t>
              </a:r>
              <a:endParaRPr/>
            </a:p>
          </p:txBody>
        </p:sp>
      </p:grpSp>
      <p:grpSp>
        <p:nvGrpSpPr>
          <p:cNvPr id="517" name="Google Shape;517;p36"/>
          <p:cNvGrpSpPr/>
          <p:nvPr/>
        </p:nvGrpSpPr>
        <p:grpSpPr>
          <a:xfrm>
            <a:off x="5791200" y="2047875"/>
            <a:ext cx="4667400" cy="4476900"/>
            <a:chOff x="5791200" y="2047875"/>
            <a:chExt cx="4667400" cy="4476900"/>
          </a:xfrm>
        </p:grpSpPr>
        <p:sp>
          <p:nvSpPr>
            <p:cNvPr id="518" name="Google Shape;518;p36"/>
            <p:cNvSpPr/>
            <p:nvPr/>
          </p:nvSpPr>
          <p:spPr>
            <a:xfrm>
              <a:off x="5791200" y="2047875"/>
              <a:ext cx="4667400" cy="4476900"/>
            </a:xfrm>
            <a:prstGeom prst="roundRect">
              <a:avLst>
                <a:gd fmla="val 3404" name="adj"/>
              </a:avLst>
            </a:prstGeom>
            <a:solidFill>
              <a:srgbClr val="1E293B">
                <a:alpha val="6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36"/>
            <p:cNvSpPr txBox="1"/>
            <p:nvPr/>
          </p:nvSpPr>
          <p:spPr>
            <a:xfrm>
              <a:off x="6124575" y="2381250"/>
              <a:ext cx="40005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school</a:t>
              </a:r>
              <a:endParaRPr sz="32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Aulas do Professor</a:t>
              </a:r>
              <a:endParaRPr b="1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Materiais e explicações complementares produzidos pelo professor do nosso departamento de informática.</a:t>
              </a:r>
              <a:endParaRPr b="0"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• Configuração e Práticas</a:t>
              </a:r>
              <a:br>
                <a:rPr b="0" lang="en-US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lang="en-US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• Fluxo de Desenvolvimento</a:t>
              </a:r>
              <a:br>
                <a:rPr b="0" lang="en-US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lang="en-US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• Gestão de Repositórios</a:t>
              </a:r>
              <a:endParaRPr b="0"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4D399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youtube.com/watch?v=O9rHwmh_kv0</a:t>
              </a:r>
              <a:endParaRPr/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4D399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youtube.com/watch?v=Lgc2DdoZgsk</a:t>
              </a:r>
              <a:endParaRPr/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4D399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youtube.com/watch?v=hMWGZ8fAbg4</a:t>
              </a:r>
              <a:endParaRPr/>
            </a:p>
          </p:txBody>
        </p:sp>
      </p:grpSp>
      <p:grpSp>
        <p:nvGrpSpPr>
          <p:cNvPr id="520" name="Google Shape;520;p36"/>
          <p:cNvGrpSpPr/>
          <p:nvPr/>
        </p:nvGrpSpPr>
        <p:grpSpPr>
          <a:xfrm>
            <a:off x="10829925" y="2047875"/>
            <a:ext cx="4667400" cy="4476900"/>
            <a:chOff x="10829925" y="2047875"/>
            <a:chExt cx="4667400" cy="4476900"/>
          </a:xfrm>
        </p:grpSpPr>
        <p:sp>
          <p:nvSpPr>
            <p:cNvPr id="521" name="Google Shape;521;p36"/>
            <p:cNvSpPr/>
            <p:nvPr/>
          </p:nvSpPr>
          <p:spPr>
            <a:xfrm>
              <a:off x="10829925" y="2047875"/>
              <a:ext cx="4667400" cy="4476900"/>
            </a:xfrm>
            <a:prstGeom prst="roundRect">
              <a:avLst>
                <a:gd fmla="val 3404" name="adj"/>
              </a:avLst>
            </a:prstGeom>
            <a:solidFill>
              <a:srgbClr val="1E293B">
                <a:alpha val="60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36"/>
            <p:cNvSpPr txBox="1"/>
            <p:nvPr/>
          </p:nvSpPr>
          <p:spPr>
            <a:xfrm>
              <a:off x="11163300" y="2381250"/>
              <a:ext cx="40005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star</a:t>
              </a:r>
              <a:endParaRPr sz="32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Data Science Roadmap</a:t>
              </a:r>
              <a:endParaRPr b="1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Guia e roteiro completo de estudos para aprendizado de Ciência de Dados, cobrindo do básico ao avançado [cite: 7].</a:t>
              </a:r>
              <a:endParaRPr b="0"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4D399"/>
                  </a:solidFill>
                  <a:highlight>
                    <a:srgbClr val="0F172A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[suspicious link removed]</a:t>
              </a:r>
              <a:endParaRPr/>
            </a:p>
          </p:txBody>
        </p:sp>
      </p:grpSp>
      <p:grpSp>
        <p:nvGrpSpPr>
          <p:cNvPr id="523" name="Google Shape;523;p36"/>
          <p:cNvGrpSpPr/>
          <p:nvPr/>
        </p:nvGrpSpPr>
        <p:grpSpPr>
          <a:xfrm>
            <a:off x="762000" y="6905625"/>
            <a:ext cx="14735100" cy="857400"/>
            <a:chOff x="762000" y="6905625"/>
            <a:chExt cx="14735100" cy="857400"/>
          </a:xfrm>
        </p:grpSpPr>
        <p:sp>
          <p:nvSpPr>
            <p:cNvPr id="524" name="Google Shape;524;p36"/>
            <p:cNvSpPr/>
            <p:nvPr/>
          </p:nvSpPr>
          <p:spPr>
            <a:xfrm>
              <a:off x="762000" y="6905625"/>
              <a:ext cx="14735100" cy="857400"/>
            </a:xfrm>
            <a:prstGeom prst="roundRect">
              <a:avLst>
                <a:gd fmla="val 13333" name="adj"/>
              </a:avLst>
            </a:prstGeom>
            <a:solidFill>
              <a:srgbClr val="0F172A">
                <a:alpha val="80000"/>
              </a:srgbClr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36"/>
            <p:cNvSpPr txBox="1"/>
            <p:nvPr/>
          </p:nvSpPr>
          <p:spPr>
            <a:xfrm>
              <a:off x="1143000" y="7048500"/>
              <a:ext cx="139731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💡 </a:t>
              </a:r>
              <a:r>
                <a:rPr b="1" lang="en-US" sz="12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Dica de Estudo:</a:t>
              </a:r>
              <a:r>
                <a:rPr b="0" lang="en-US" sz="12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 Salve estes links e acesse os vídeos indicados antes do próximo laboratório prático para consolidar os conceitos.</a:t>
              </a:r>
              <a:endParaRPr b="0" sz="12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0" name="Google Shape;530;p37"/>
          <p:cNvGrpSpPr/>
          <p:nvPr/>
        </p:nvGrpSpPr>
        <p:grpSpPr>
          <a:xfrm>
            <a:off x="7177088" y="1714500"/>
            <a:ext cx="1905000" cy="476400"/>
            <a:chOff x="7177088" y="1714500"/>
            <a:chExt cx="1905000" cy="476400"/>
          </a:xfrm>
        </p:grpSpPr>
        <p:sp>
          <p:nvSpPr>
            <p:cNvPr id="531" name="Google Shape;531;p37"/>
            <p:cNvSpPr/>
            <p:nvPr/>
          </p:nvSpPr>
          <p:spPr>
            <a:xfrm>
              <a:off x="7177088" y="1714500"/>
              <a:ext cx="1905000" cy="476400"/>
            </a:xfrm>
            <a:prstGeom prst="roundRect">
              <a:avLst>
                <a:gd fmla="val 50000" name="adj"/>
              </a:avLst>
            </a:prstGeom>
            <a:solidFill>
              <a:srgbClr val="1E293B"/>
            </a:solidFill>
            <a:ln cap="flat" cmpd="sng" w="1905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37"/>
            <p:cNvSpPr txBox="1"/>
            <p:nvPr/>
          </p:nvSpPr>
          <p:spPr>
            <a:xfrm>
              <a:off x="7177088" y="1714500"/>
              <a:ext cx="1905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FIM DA APRESENTAÇÃO</a:t>
              </a:r>
              <a:endParaRPr b="1" sz="12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533" name="Google Shape;533;p37"/>
          <p:cNvSpPr txBox="1"/>
          <p:nvPr/>
        </p:nvSpPr>
        <p:spPr>
          <a:xfrm>
            <a:off x="1047750" y="2667000"/>
            <a:ext cx="14163600" cy="247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>
                <a:solidFill>
                  <a:srgbClr val="FFFFFF"/>
                </a:solidFill>
                <a:latin typeface="Inter Black"/>
                <a:ea typeface="Inter Black"/>
                <a:cs typeface="Inter Black"/>
                <a:sym typeface="Inter Black"/>
              </a:rPr>
              <a:t>Muito </a:t>
            </a:r>
            <a:r>
              <a:rPr b="0" i="0" lang="en-US" sz="7200">
                <a:solidFill>
                  <a:srgbClr val="38BDF8"/>
                </a:solidFill>
                <a:latin typeface="Inter Black"/>
                <a:ea typeface="Inter Black"/>
                <a:cs typeface="Inter Black"/>
                <a:sym typeface="Inter Black"/>
              </a:rPr>
              <a:t>Obrigado</a:t>
            </a:r>
            <a:r>
              <a:rPr b="0" i="0" lang="en-US" sz="7200">
                <a:solidFill>
                  <a:srgbClr val="FFFFFF"/>
                </a:solidFill>
                <a:latin typeface="Inter Black"/>
                <a:ea typeface="Inter Black"/>
                <a:cs typeface="Inter Black"/>
                <a:sym typeface="Inter Black"/>
              </a:rPr>
              <a:t>!</a:t>
            </a:r>
            <a:endParaRPr b="0" i="0" sz="7200">
              <a:solidFill>
                <a:srgbClr val="FFFFFF"/>
              </a:solidFill>
              <a:latin typeface="Inter Black"/>
              <a:ea typeface="Inter Black"/>
              <a:cs typeface="Inter Black"/>
              <a:sym typeface="Inter Black"/>
            </a:endParaRPr>
          </a:p>
          <a:p>
            <a:pPr indent="0" lvl="0" marL="0" rtl="0" algn="ctr">
              <a:spcBef>
                <a:spcPts val="75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Agora você tem o mapa do ciclo básico do Git e o ecossistema essencial do Python em suas mãos.</a:t>
            </a:r>
            <a:endParaRPr b="0" i="0" sz="18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34" name="Google Shape;534;p37"/>
          <p:cNvGrpSpPr/>
          <p:nvPr/>
        </p:nvGrpSpPr>
        <p:grpSpPr>
          <a:xfrm>
            <a:off x="4319588" y="5524500"/>
            <a:ext cx="7620000" cy="1428900"/>
            <a:chOff x="4319588" y="5524500"/>
            <a:chExt cx="7620000" cy="1428900"/>
          </a:xfrm>
        </p:grpSpPr>
        <p:sp>
          <p:nvSpPr>
            <p:cNvPr id="535" name="Google Shape;535;p37"/>
            <p:cNvSpPr/>
            <p:nvPr/>
          </p:nvSpPr>
          <p:spPr>
            <a:xfrm>
              <a:off x="4319588" y="5524500"/>
              <a:ext cx="7620000" cy="1428900"/>
            </a:xfrm>
            <a:prstGeom prst="roundRect">
              <a:avLst>
                <a:gd fmla="val 10666" name="adj"/>
              </a:avLst>
            </a:prstGeom>
            <a:solidFill>
              <a:srgbClr val="1E293B">
                <a:alpha val="85000"/>
              </a:srgbClr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37"/>
            <p:cNvSpPr txBox="1"/>
            <p:nvPr/>
          </p:nvSpPr>
          <p:spPr>
            <a:xfrm>
              <a:off x="4605338" y="5715000"/>
              <a:ext cx="7048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00">
                  <a:solidFill>
                    <a:srgbClr val="F1F5F9"/>
                  </a:solidFill>
                  <a:latin typeface="Inter"/>
                  <a:ea typeface="Inter"/>
                  <a:cs typeface="Inter"/>
                  <a:sym typeface="Inter"/>
                </a:rPr>
                <a:t>🚀 Pronto para o próximo nível?</a:t>
              </a:r>
              <a:endParaRPr b="1" i="0" sz="13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i="0"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Continue explorando novos pacotes e crie seu primeiro repositório local hoje mesmo!</a:t>
              </a:r>
              <a:endParaRPr b="0" i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>
                  <a:solidFill>
                    <a:srgbClr val="34D39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git init &amp;&amp; pip install pandas</a:t>
              </a:r>
              <a:endParaRPr b="1" i="0" sz="13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